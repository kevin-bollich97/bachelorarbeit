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258" r:id="rId5"/>
    <p:sldId id="260" r:id="rId6"/>
    <p:sldId id="292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11" r:id="rId35"/>
    <p:sldId id="310" r:id="rId36"/>
    <p:sldId id="316" r:id="rId37"/>
    <p:sldId id="259" r:id="rId38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A51C"/>
    <a:srgbClr val="8E969D"/>
    <a:srgbClr val="E8E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18" autoAdjust="0"/>
    <p:restoredTop sz="92821" autoAdjust="0"/>
  </p:normalViewPr>
  <p:slideViewPr>
    <p:cSldViewPr>
      <p:cViewPr>
        <p:scale>
          <a:sx n="140" d="100"/>
          <a:sy n="140" d="100"/>
        </p:scale>
        <p:origin x="10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64" d="100"/>
        <a:sy n="16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Einrichtung des zentralisierten </a:t>
          </a:r>
          <a:r>
            <a:rPr lang="de-DE" dirty="0" err="1"/>
            <a:t>Logging</a:t>
          </a:r>
          <a:r>
            <a:rPr lang="de-DE" dirty="0"/>
            <a:t>-Servers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Umsetzung der Richtlinien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/>
            <a:t>Evaluation von Log-Management-Tools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Ergebnisse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>
            <a:lumMod val="75000"/>
          </a:schemeClr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/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/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/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Einrichtung des zentralisierten </a:t>
          </a:r>
          <a:r>
            <a:rPr lang="de-DE" dirty="0" err="1"/>
            <a:t>Logging</a:t>
          </a:r>
          <a:r>
            <a:rPr lang="de-DE" dirty="0"/>
            <a:t>-Servers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Umsetzung der Richtlinien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/>
            <a:t>Evaluation von Log-Management-Tools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Ergebnisse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>
            <a:lumMod val="75000"/>
          </a:schemeClr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/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/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D380DA-682D-4C6C-BBEF-069869C910C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65EC1E7-46E0-4E96-AA88-94AB41754323}">
      <dgm:prSet phldrT="[Text]"/>
      <dgm:spPr/>
      <dgm:t>
        <a:bodyPr/>
        <a:lstStyle/>
        <a:p>
          <a:r>
            <a:rPr lang="de-DE" dirty="0"/>
            <a:t>Graylog vs. Elastic Stack </a:t>
          </a:r>
        </a:p>
      </dgm:t>
    </dgm:pt>
    <dgm:pt modelId="{22A61DBC-3FD9-45F0-8BFB-F43DAB6453FC}" type="parTrans" cxnId="{1C6CC1ED-7F07-4536-A8D2-C49E766163CC}">
      <dgm:prSet/>
      <dgm:spPr/>
      <dgm:t>
        <a:bodyPr/>
        <a:lstStyle/>
        <a:p>
          <a:endParaRPr lang="de-DE"/>
        </a:p>
      </dgm:t>
    </dgm:pt>
    <dgm:pt modelId="{5B0F6D18-D205-4F71-A7E9-1FC0C3DEFC89}" type="sibTrans" cxnId="{1C6CC1ED-7F07-4536-A8D2-C49E766163CC}">
      <dgm:prSet/>
      <dgm:spPr/>
      <dgm:t>
        <a:bodyPr/>
        <a:lstStyle/>
        <a:p>
          <a:endParaRPr lang="de-DE"/>
        </a:p>
      </dgm:t>
    </dgm:pt>
    <dgm:pt modelId="{4CE1D29E-45AD-4192-AF9E-38A900FFBAA0}">
      <dgm:prSet phldrT="[Text]"/>
      <dgm:spPr/>
      <dgm:t>
        <a:bodyPr/>
        <a:lstStyle/>
        <a:p>
          <a:r>
            <a:rPr lang="de-DE" dirty="0"/>
            <a:t>Sematext vs. Elastic Stack</a:t>
          </a:r>
        </a:p>
      </dgm:t>
    </dgm:pt>
    <dgm:pt modelId="{015AAF9B-CF51-49E0-A459-97DCC5020419}" type="parTrans" cxnId="{70BE90BF-7B4C-4444-9A3C-9CDB80D4533B}">
      <dgm:prSet/>
      <dgm:spPr/>
      <dgm:t>
        <a:bodyPr/>
        <a:lstStyle/>
        <a:p>
          <a:endParaRPr lang="de-DE"/>
        </a:p>
      </dgm:t>
    </dgm:pt>
    <dgm:pt modelId="{D5FC1829-FAD4-4E19-B2AD-4FDE74FE4D6F}" type="sibTrans" cxnId="{70BE90BF-7B4C-4444-9A3C-9CDB80D4533B}">
      <dgm:prSet/>
      <dgm:spPr/>
      <dgm:t>
        <a:bodyPr/>
        <a:lstStyle/>
        <a:p>
          <a:endParaRPr lang="de-DE"/>
        </a:p>
      </dgm:t>
    </dgm:pt>
    <dgm:pt modelId="{533036EB-8992-4667-80A3-6A5929544112}">
      <dgm:prSet phldrT="[Text]"/>
      <dgm:spPr/>
      <dgm:t>
        <a:bodyPr/>
        <a:lstStyle/>
        <a:p>
          <a:r>
            <a:rPr lang="de-DE" dirty="0"/>
            <a:t>Fluentd vs. Logstash</a:t>
          </a:r>
        </a:p>
      </dgm:t>
    </dgm:pt>
    <dgm:pt modelId="{B86BB79F-1236-4881-A27E-8AD6111DCC71}" type="parTrans" cxnId="{55CBB17B-7264-4F99-A6D4-0994F17ED59F}">
      <dgm:prSet/>
      <dgm:spPr/>
      <dgm:t>
        <a:bodyPr/>
        <a:lstStyle/>
        <a:p>
          <a:endParaRPr lang="de-DE"/>
        </a:p>
      </dgm:t>
    </dgm:pt>
    <dgm:pt modelId="{99585B0E-2AAD-4958-998A-0CC0C0449B5E}" type="sibTrans" cxnId="{55CBB17B-7264-4F99-A6D4-0994F17ED59F}">
      <dgm:prSet/>
      <dgm:spPr/>
      <dgm:t>
        <a:bodyPr/>
        <a:lstStyle/>
        <a:p>
          <a:endParaRPr lang="de-DE"/>
        </a:p>
      </dgm:t>
    </dgm:pt>
    <dgm:pt modelId="{DA80131E-3C69-4188-9F40-451564517453}">
      <dgm:prSet phldrT="[Text]"/>
      <dgm:spPr/>
      <dgm:t>
        <a:bodyPr/>
        <a:lstStyle/>
        <a:p>
          <a:r>
            <a:rPr lang="de-DE" dirty="0"/>
            <a:t>Alle Anforderungen werden erfüllt</a:t>
          </a:r>
        </a:p>
      </dgm:t>
    </dgm:pt>
    <dgm:pt modelId="{6B242C90-C137-49F5-BCF8-14F19E8063D9}" type="parTrans" cxnId="{B5630B72-2792-4868-9893-3A36664BFEB4}">
      <dgm:prSet/>
      <dgm:spPr/>
      <dgm:t>
        <a:bodyPr/>
        <a:lstStyle/>
        <a:p>
          <a:endParaRPr lang="de-DE"/>
        </a:p>
      </dgm:t>
    </dgm:pt>
    <dgm:pt modelId="{8DF17B81-AD28-4FAE-9710-0809CE86CA80}" type="sibTrans" cxnId="{B5630B72-2792-4868-9893-3A36664BFEB4}">
      <dgm:prSet/>
      <dgm:spPr/>
      <dgm:t>
        <a:bodyPr/>
        <a:lstStyle/>
        <a:p>
          <a:endParaRPr lang="de-DE"/>
        </a:p>
      </dgm:t>
    </dgm:pt>
    <dgm:pt modelId="{4D02C849-06F3-428F-804E-B5EC783681F3}">
      <dgm:prSet phldrT="[Text]"/>
      <dgm:spPr/>
      <dgm:t>
        <a:bodyPr/>
        <a:lstStyle/>
        <a:p>
          <a:r>
            <a:rPr lang="de-DE" dirty="0"/>
            <a:t>Wegen Zeitmangels nur Elastic Stack</a:t>
          </a:r>
        </a:p>
      </dgm:t>
    </dgm:pt>
    <dgm:pt modelId="{59BA67EE-5C7A-4188-B5E6-E00C47D7423E}" type="parTrans" cxnId="{2D2269BD-52F2-416F-8F4F-D8BE5F3C0AB2}">
      <dgm:prSet/>
      <dgm:spPr/>
      <dgm:t>
        <a:bodyPr/>
        <a:lstStyle/>
        <a:p>
          <a:endParaRPr lang="de-DE"/>
        </a:p>
      </dgm:t>
    </dgm:pt>
    <dgm:pt modelId="{2546E23F-4584-4F3B-8B6F-82312E371897}" type="sibTrans" cxnId="{2D2269BD-52F2-416F-8F4F-D8BE5F3C0AB2}">
      <dgm:prSet/>
      <dgm:spPr/>
      <dgm:t>
        <a:bodyPr/>
        <a:lstStyle/>
        <a:p>
          <a:endParaRPr lang="de-DE"/>
        </a:p>
      </dgm:t>
    </dgm:pt>
    <dgm:pt modelId="{86F46463-0FA0-4DD2-B8E7-C7451B8836BE}">
      <dgm:prSet phldrT="[Text]"/>
      <dgm:spPr/>
      <dgm:t>
        <a:bodyPr/>
        <a:lstStyle/>
        <a:p>
          <a:r>
            <a:rPr lang="de-DE" dirty="0"/>
            <a:t>Strukturieren von Logs mit beiden Möglich</a:t>
          </a:r>
        </a:p>
      </dgm:t>
    </dgm:pt>
    <dgm:pt modelId="{604EA089-E98D-467E-9DDD-324A2E53C629}" type="parTrans" cxnId="{5AB74A9F-7C3A-4052-91E7-AF7C0CFF019C}">
      <dgm:prSet/>
      <dgm:spPr/>
      <dgm:t>
        <a:bodyPr/>
        <a:lstStyle/>
        <a:p>
          <a:endParaRPr lang="de-DE"/>
        </a:p>
      </dgm:t>
    </dgm:pt>
    <dgm:pt modelId="{FA686946-E4B1-4F9F-B1C4-4C191043990C}" type="sibTrans" cxnId="{5AB74A9F-7C3A-4052-91E7-AF7C0CFF019C}">
      <dgm:prSet/>
      <dgm:spPr/>
      <dgm:t>
        <a:bodyPr/>
        <a:lstStyle/>
        <a:p>
          <a:endParaRPr lang="de-DE"/>
        </a:p>
      </dgm:t>
    </dgm:pt>
    <dgm:pt modelId="{01CF5791-A4B5-409C-9906-555F56ABD40D}">
      <dgm:prSet phldrT="[Text]"/>
      <dgm:spPr/>
      <dgm:t>
        <a:bodyPr/>
        <a:lstStyle/>
        <a:p>
          <a:r>
            <a:rPr lang="de-DE" dirty="0"/>
            <a:t>Beide Tools sind geeignet</a:t>
          </a:r>
        </a:p>
      </dgm:t>
    </dgm:pt>
    <dgm:pt modelId="{01805DD7-CE7B-4B94-AF2E-8ABD5F0717AB}" type="parTrans" cxnId="{89110FAB-CB88-4F58-8F35-5655792AE961}">
      <dgm:prSet/>
      <dgm:spPr/>
      <dgm:t>
        <a:bodyPr/>
        <a:lstStyle/>
        <a:p>
          <a:endParaRPr lang="de-DE"/>
        </a:p>
      </dgm:t>
    </dgm:pt>
    <dgm:pt modelId="{7AF1C285-6B28-4862-A926-E2877A0712BD}" type="sibTrans" cxnId="{89110FAB-CB88-4F58-8F35-5655792AE961}">
      <dgm:prSet/>
      <dgm:spPr/>
      <dgm:t>
        <a:bodyPr/>
        <a:lstStyle/>
        <a:p>
          <a:endParaRPr lang="de-DE"/>
        </a:p>
      </dgm:t>
    </dgm:pt>
    <dgm:pt modelId="{AFF56926-618E-44C9-AF3A-7C36F5C0F5A6}">
      <dgm:prSet phldrT="[Text]"/>
      <dgm:spPr/>
      <dgm:t>
        <a:bodyPr/>
        <a:lstStyle/>
        <a:p>
          <a:r>
            <a:rPr lang="de-DE" dirty="0"/>
            <a:t>Ausschlusskriterium für Sematext: Installation mit Docker </a:t>
          </a:r>
        </a:p>
      </dgm:t>
    </dgm:pt>
    <dgm:pt modelId="{D5E35AA8-66A4-455D-8324-D6E814D9B809}" type="parTrans" cxnId="{1A66907E-4E10-4DB2-A46E-2FF109B0C86D}">
      <dgm:prSet/>
      <dgm:spPr/>
      <dgm:t>
        <a:bodyPr/>
        <a:lstStyle/>
        <a:p>
          <a:endParaRPr lang="de-DE"/>
        </a:p>
      </dgm:t>
    </dgm:pt>
    <dgm:pt modelId="{62F846D4-70F7-4D9D-9A89-7B103FB3099D}" type="sibTrans" cxnId="{1A66907E-4E10-4DB2-A46E-2FF109B0C86D}">
      <dgm:prSet/>
      <dgm:spPr/>
      <dgm:t>
        <a:bodyPr/>
        <a:lstStyle/>
        <a:p>
          <a:endParaRPr lang="de-DE"/>
        </a:p>
      </dgm:t>
    </dgm:pt>
    <dgm:pt modelId="{E3069140-4E6B-4997-B93E-26CFB38D1445}">
      <dgm:prSet phldrT="[Text]"/>
      <dgm:spPr/>
      <dgm:t>
        <a:bodyPr/>
        <a:lstStyle/>
        <a:p>
          <a:r>
            <a:rPr lang="de-DE" dirty="0"/>
            <a:t>Kein Ausschlusskriterium vorhanden</a:t>
          </a:r>
        </a:p>
      </dgm:t>
    </dgm:pt>
    <dgm:pt modelId="{C6EA23FE-173B-4C6F-8D20-5D8BF7F46CAA}" type="parTrans" cxnId="{6F4BC00B-7D22-4AF6-8B00-A3A6F76C0903}">
      <dgm:prSet/>
      <dgm:spPr/>
      <dgm:t>
        <a:bodyPr/>
        <a:lstStyle/>
        <a:p>
          <a:endParaRPr lang="de-DE"/>
        </a:p>
      </dgm:t>
    </dgm:pt>
    <dgm:pt modelId="{1F606592-38FE-4059-A05B-15D374C9376C}" type="sibTrans" cxnId="{6F4BC00B-7D22-4AF6-8B00-A3A6F76C0903}">
      <dgm:prSet/>
      <dgm:spPr/>
      <dgm:t>
        <a:bodyPr/>
        <a:lstStyle/>
        <a:p>
          <a:endParaRPr lang="de-DE"/>
        </a:p>
      </dgm:t>
    </dgm:pt>
    <dgm:pt modelId="{DF71384A-1E75-491C-803D-B0E61D5DCF00}">
      <dgm:prSet phldrT="[Text]"/>
      <dgm:spPr/>
      <dgm:t>
        <a:bodyPr/>
        <a:lstStyle/>
        <a:p>
          <a:r>
            <a:rPr lang="de-DE" dirty="0"/>
            <a:t>Wegen dem Elastic Stack wird Logstash verwendet </a:t>
          </a:r>
        </a:p>
      </dgm:t>
    </dgm:pt>
    <dgm:pt modelId="{5F153F02-39CD-40E8-86CD-ACA872CD57E1}" type="parTrans" cxnId="{5953BC1E-6A7B-44B4-A552-800552FD1E3C}">
      <dgm:prSet/>
      <dgm:spPr/>
      <dgm:t>
        <a:bodyPr/>
        <a:lstStyle/>
        <a:p>
          <a:endParaRPr lang="de-DE"/>
        </a:p>
      </dgm:t>
    </dgm:pt>
    <dgm:pt modelId="{FD48EDD5-29F1-4128-8D49-17ED2FF4D938}" type="sibTrans" cxnId="{5953BC1E-6A7B-44B4-A552-800552FD1E3C}">
      <dgm:prSet/>
      <dgm:spPr/>
      <dgm:t>
        <a:bodyPr/>
        <a:lstStyle/>
        <a:p>
          <a:endParaRPr lang="de-DE"/>
        </a:p>
      </dgm:t>
    </dgm:pt>
    <dgm:pt modelId="{8077F056-03BA-47E2-B26A-708C076ECA85}" type="pres">
      <dgm:prSet presAssocID="{85D380DA-682D-4C6C-BBEF-069869C910C7}" presName="linear" presStyleCnt="0">
        <dgm:presLayoutVars>
          <dgm:dir/>
          <dgm:animLvl val="lvl"/>
          <dgm:resizeHandles val="exact"/>
        </dgm:presLayoutVars>
      </dgm:prSet>
      <dgm:spPr/>
    </dgm:pt>
    <dgm:pt modelId="{688E3056-F655-4295-9E2E-142F5BC225BE}" type="pres">
      <dgm:prSet presAssocID="{465EC1E7-46E0-4E96-AA88-94AB41754323}" presName="parentLin" presStyleCnt="0"/>
      <dgm:spPr/>
    </dgm:pt>
    <dgm:pt modelId="{C6C64B75-CB0E-4C64-BC64-4D3E05C29A5A}" type="pres">
      <dgm:prSet presAssocID="{465EC1E7-46E0-4E96-AA88-94AB41754323}" presName="parentLeftMargin" presStyleLbl="node1" presStyleIdx="0" presStyleCnt="3"/>
      <dgm:spPr/>
    </dgm:pt>
    <dgm:pt modelId="{E0D76806-759F-4DC0-ACDC-44A8AD213DA1}" type="pres">
      <dgm:prSet presAssocID="{465EC1E7-46E0-4E96-AA88-94AB417543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1044E6-260F-46FF-A2BF-F835E27FB64A}" type="pres">
      <dgm:prSet presAssocID="{465EC1E7-46E0-4E96-AA88-94AB41754323}" presName="negativeSpace" presStyleCnt="0"/>
      <dgm:spPr/>
    </dgm:pt>
    <dgm:pt modelId="{9E3EDCC5-2861-49DA-AF8A-587D7FC0962D}" type="pres">
      <dgm:prSet presAssocID="{465EC1E7-46E0-4E96-AA88-94AB41754323}" presName="childText" presStyleLbl="conFgAcc1" presStyleIdx="0" presStyleCnt="3">
        <dgm:presLayoutVars>
          <dgm:bulletEnabled val="1"/>
        </dgm:presLayoutVars>
      </dgm:prSet>
      <dgm:spPr/>
    </dgm:pt>
    <dgm:pt modelId="{865D9BC4-E0B1-4254-B51C-753CAAA16B8D}" type="pres">
      <dgm:prSet presAssocID="{5B0F6D18-D205-4F71-A7E9-1FC0C3DEFC89}" presName="spaceBetweenRectangles" presStyleCnt="0"/>
      <dgm:spPr/>
    </dgm:pt>
    <dgm:pt modelId="{6AA121EE-C18A-41FE-A5AA-B1FFB22F928E}" type="pres">
      <dgm:prSet presAssocID="{4CE1D29E-45AD-4192-AF9E-38A900FFBAA0}" presName="parentLin" presStyleCnt="0"/>
      <dgm:spPr/>
    </dgm:pt>
    <dgm:pt modelId="{449696B2-E524-4873-8C4F-6324DBAFEE5A}" type="pres">
      <dgm:prSet presAssocID="{4CE1D29E-45AD-4192-AF9E-38A900FFBAA0}" presName="parentLeftMargin" presStyleLbl="node1" presStyleIdx="0" presStyleCnt="3"/>
      <dgm:spPr/>
    </dgm:pt>
    <dgm:pt modelId="{E9A077A3-3346-40E9-B82B-FAE873582F48}" type="pres">
      <dgm:prSet presAssocID="{4CE1D29E-45AD-4192-AF9E-38A900FFBA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E637D4-DC25-490B-8F83-D2247E690EF3}" type="pres">
      <dgm:prSet presAssocID="{4CE1D29E-45AD-4192-AF9E-38A900FFBAA0}" presName="negativeSpace" presStyleCnt="0"/>
      <dgm:spPr/>
    </dgm:pt>
    <dgm:pt modelId="{4062296E-E278-4764-BC7B-FA77F717CDE5}" type="pres">
      <dgm:prSet presAssocID="{4CE1D29E-45AD-4192-AF9E-38A900FFBAA0}" presName="childText" presStyleLbl="conFgAcc1" presStyleIdx="1" presStyleCnt="3">
        <dgm:presLayoutVars>
          <dgm:bulletEnabled val="1"/>
        </dgm:presLayoutVars>
      </dgm:prSet>
      <dgm:spPr/>
    </dgm:pt>
    <dgm:pt modelId="{54DD0257-FE94-4A0D-A397-69A2291EAFB1}" type="pres">
      <dgm:prSet presAssocID="{D5FC1829-FAD4-4E19-B2AD-4FDE74FE4D6F}" presName="spaceBetweenRectangles" presStyleCnt="0"/>
      <dgm:spPr/>
    </dgm:pt>
    <dgm:pt modelId="{2AD14C4A-1B8D-4A77-92AF-541ED697A1B9}" type="pres">
      <dgm:prSet presAssocID="{533036EB-8992-4667-80A3-6A5929544112}" presName="parentLin" presStyleCnt="0"/>
      <dgm:spPr/>
    </dgm:pt>
    <dgm:pt modelId="{4DE836AF-9267-492F-9897-D6912B46CFC7}" type="pres">
      <dgm:prSet presAssocID="{533036EB-8992-4667-80A3-6A5929544112}" presName="parentLeftMargin" presStyleLbl="node1" presStyleIdx="1" presStyleCnt="3"/>
      <dgm:spPr/>
    </dgm:pt>
    <dgm:pt modelId="{CB1E91C5-C9AE-4085-9043-A7BE5FCE5A64}" type="pres">
      <dgm:prSet presAssocID="{533036EB-8992-4667-80A3-6A592954411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5E3CA7E-7BF8-4C2E-8D61-511808A405AC}" type="pres">
      <dgm:prSet presAssocID="{533036EB-8992-4667-80A3-6A5929544112}" presName="negativeSpace" presStyleCnt="0"/>
      <dgm:spPr/>
    </dgm:pt>
    <dgm:pt modelId="{BBAEB742-463B-4229-A658-5A7854F31693}" type="pres">
      <dgm:prSet presAssocID="{533036EB-8992-4667-80A3-6A592954411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F4BC00B-7D22-4AF6-8B00-A3A6F76C0903}" srcId="{533036EB-8992-4667-80A3-6A5929544112}" destId="{E3069140-4E6B-4997-B93E-26CFB38D1445}" srcOrd="1" destOrd="0" parTransId="{C6EA23FE-173B-4C6F-8D20-5D8BF7F46CAA}" sibTransId="{1F606592-38FE-4059-A05B-15D374C9376C}"/>
    <dgm:cxn modelId="{FB019117-F114-40B5-A43A-F19003AB26AA}" type="presOf" srcId="{533036EB-8992-4667-80A3-6A5929544112}" destId="{CB1E91C5-C9AE-4085-9043-A7BE5FCE5A64}" srcOrd="1" destOrd="0" presId="urn:microsoft.com/office/officeart/2005/8/layout/list1"/>
    <dgm:cxn modelId="{58F7A61D-864F-4261-85A3-F5C3ADA610A8}" type="presOf" srcId="{465EC1E7-46E0-4E96-AA88-94AB41754323}" destId="{E0D76806-759F-4DC0-ACDC-44A8AD213DA1}" srcOrd="1" destOrd="0" presId="urn:microsoft.com/office/officeart/2005/8/layout/list1"/>
    <dgm:cxn modelId="{5953BC1E-6A7B-44B4-A552-800552FD1E3C}" srcId="{533036EB-8992-4667-80A3-6A5929544112}" destId="{DF71384A-1E75-491C-803D-B0E61D5DCF00}" srcOrd="2" destOrd="0" parTransId="{5F153F02-39CD-40E8-86CD-ACA872CD57E1}" sibTransId="{FD48EDD5-29F1-4128-8D49-17ED2FF4D938}"/>
    <dgm:cxn modelId="{F082171F-A3FB-495D-9C12-9F0BBF8AE7D8}" type="presOf" srcId="{533036EB-8992-4667-80A3-6A5929544112}" destId="{4DE836AF-9267-492F-9897-D6912B46CFC7}" srcOrd="0" destOrd="0" presId="urn:microsoft.com/office/officeart/2005/8/layout/list1"/>
    <dgm:cxn modelId="{8231D139-9885-4438-9FF7-21922B7432B9}" type="presOf" srcId="{86F46463-0FA0-4DD2-B8E7-C7451B8836BE}" destId="{BBAEB742-463B-4229-A658-5A7854F31693}" srcOrd="0" destOrd="0" presId="urn:microsoft.com/office/officeart/2005/8/layout/list1"/>
    <dgm:cxn modelId="{F2EEB944-AE8A-4E43-8E57-E27AAFE1D164}" type="presOf" srcId="{DA80131E-3C69-4188-9F40-451564517453}" destId="{9E3EDCC5-2861-49DA-AF8A-587D7FC0962D}" srcOrd="0" destOrd="0" presId="urn:microsoft.com/office/officeart/2005/8/layout/list1"/>
    <dgm:cxn modelId="{5A8BF86F-0ED6-4C6F-A8BF-D437B3A05BCC}" type="presOf" srcId="{4CE1D29E-45AD-4192-AF9E-38A900FFBAA0}" destId="{449696B2-E524-4873-8C4F-6324DBAFEE5A}" srcOrd="0" destOrd="0" presId="urn:microsoft.com/office/officeart/2005/8/layout/list1"/>
    <dgm:cxn modelId="{B5630B72-2792-4868-9893-3A36664BFEB4}" srcId="{465EC1E7-46E0-4E96-AA88-94AB41754323}" destId="{DA80131E-3C69-4188-9F40-451564517453}" srcOrd="0" destOrd="0" parTransId="{6B242C90-C137-49F5-BCF8-14F19E8063D9}" sibTransId="{8DF17B81-AD28-4FAE-9710-0809CE86CA80}"/>
    <dgm:cxn modelId="{55CBB17B-7264-4F99-A6D4-0994F17ED59F}" srcId="{85D380DA-682D-4C6C-BBEF-069869C910C7}" destId="{533036EB-8992-4667-80A3-6A5929544112}" srcOrd="2" destOrd="0" parTransId="{B86BB79F-1236-4881-A27E-8AD6111DCC71}" sibTransId="{99585B0E-2AAD-4958-998A-0CC0C0449B5E}"/>
    <dgm:cxn modelId="{1A66907E-4E10-4DB2-A46E-2FF109B0C86D}" srcId="{4CE1D29E-45AD-4192-AF9E-38A900FFBAA0}" destId="{AFF56926-618E-44C9-AF3A-7C36F5C0F5A6}" srcOrd="0" destOrd="0" parTransId="{D5E35AA8-66A4-455D-8324-D6E814D9B809}" sibTransId="{62F846D4-70F7-4D9D-9A89-7B103FB3099D}"/>
    <dgm:cxn modelId="{1B49BC7F-5A3F-41A4-AC32-26155A6C33BC}" type="presOf" srcId="{E3069140-4E6B-4997-B93E-26CFB38D1445}" destId="{BBAEB742-463B-4229-A658-5A7854F31693}" srcOrd="0" destOrd="1" presId="urn:microsoft.com/office/officeart/2005/8/layout/list1"/>
    <dgm:cxn modelId="{368D5582-888A-457F-B0B7-E0B1AB0FE6D5}" type="presOf" srcId="{4D02C849-06F3-428F-804E-B5EC783681F3}" destId="{9E3EDCC5-2861-49DA-AF8A-587D7FC0962D}" srcOrd="0" destOrd="2" presId="urn:microsoft.com/office/officeart/2005/8/layout/list1"/>
    <dgm:cxn modelId="{5AB74A9F-7C3A-4052-91E7-AF7C0CFF019C}" srcId="{533036EB-8992-4667-80A3-6A5929544112}" destId="{86F46463-0FA0-4DD2-B8E7-C7451B8836BE}" srcOrd="0" destOrd="0" parTransId="{604EA089-E98D-467E-9DDD-324A2E53C629}" sibTransId="{FA686946-E4B1-4F9F-B1C4-4C191043990C}"/>
    <dgm:cxn modelId="{89110FAB-CB88-4F58-8F35-5655792AE961}" srcId="{465EC1E7-46E0-4E96-AA88-94AB41754323}" destId="{01CF5791-A4B5-409C-9906-555F56ABD40D}" srcOrd="1" destOrd="0" parTransId="{01805DD7-CE7B-4B94-AF2E-8ABD5F0717AB}" sibTransId="{7AF1C285-6B28-4862-A926-E2877A0712BD}"/>
    <dgm:cxn modelId="{B14690B0-0555-4CEC-87D8-263F9AC4600D}" type="presOf" srcId="{4CE1D29E-45AD-4192-AF9E-38A900FFBAA0}" destId="{E9A077A3-3346-40E9-B82B-FAE873582F48}" srcOrd="1" destOrd="0" presId="urn:microsoft.com/office/officeart/2005/8/layout/list1"/>
    <dgm:cxn modelId="{2D2269BD-52F2-416F-8F4F-D8BE5F3C0AB2}" srcId="{465EC1E7-46E0-4E96-AA88-94AB41754323}" destId="{4D02C849-06F3-428F-804E-B5EC783681F3}" srcOrd="2" destOrd="0" parTransId="{59BA67EE-5C7A-4188-B5E6-E00C47D7423E}" sibTransId="{2546E23F-4584-4F3B-8B6F-82312E371897}"/>
    <dgm:cxn modelId="{95998ABF-7C1B-455E-90A6-6C4237C597B9}" type="presOf" srcId="{AFF56926-618E-44C9-AF3A-7C36F5C0F5A6}" destId="{4062296E-E278-4764-BC7B-FA77F717CDE5}" srcOrd="0" destOrd="0" presId="urn:microsoft.com/office/officeart/2005/8/layout/list1"/>
    <dgm:cxn modelId="{70BE90BF-7B4C-4444-9A3C-9CDB80D4533B}" srcId="{85D380DA-682D-4C6C-BBEF-069869C910C7}" destId="{4CE1D29E-45AD-4192-AF9E-38A900FFBAA0}" srcOrd="1" destOrd="0" parTransId="{015AAF9B-CF51-49E0-A459-97DCC5020419}" sibTransId="{D5FC1829-FAD4-4E19-B2AD-4FDE74FE4D6F}"/>
    <dgm:cxn modelId="{70060ACD-88FD-4694-8C38-78C1132DC779}" type="presOf" srcId="{465EC1E7-46E0-4E96-AA88-94AB41754323}" destId="{C6C64B75-CB0E-4C64-BC64-4D3E05C29A5A}" srcOrd="0" destOrd="0" presId="urn:microsoft.com/office/officeart/2005/8/layout/list1"/>
    <dgm:cxn modelId="{B8BE68DD-5BA0-48AC-A145-EE5206444403}" type="presOf" srcId="{DF71384A-1E75-491C-803D-B0E61D5DCF00}" destId="{BBAEB742-463B-4229-A658-5A7854F31693}" srcOrd="0" destOrd="2" presId="urn:microsoft.com/office/officeart/2005/8/layout/list1"/>
    <dgm:cxn modelId="{8CDEFFE6-D73B-4185-9511-510A57BBB551}" type="presOf" srcId="{85D380DA-682D-4C6C-BBEF-069869C910C7}" destId="{8077F056-03BA-47E2-B26A-708C076ECA85}" srcOrd="0" destOrd="0" presId="urn:microsoft.com/office/officeart/2005/8/layout/list1"/>
    <dgm:cxn modelId="{1C6CC1ED-7F07-4536-A8D2-C49E766163CC}" srcId="{85D380DA-682D-4C6C-BBEF-069869C910C7}" destId="{465EC1E7-46E0-4E96-AA88-94AB41754323}" srcOrd="0" destOrd="0" parTransId="{22A61DBC-3FD9-45F0-8BFB-F43DAB6453FC}" sibTransId="{5B0F6D18-D205-4F71-A7E9-1FC0C3DEFC89}"/>
    <dgm:cxn modelId="{DA5B4DFE-58E9-423C-A8CB-3E23B0BFCF44}" type="presOf" srcId="{01CF5791-A4B5-409C-9906-555F56ABD40D}" destId="{9E3EDCC5-2861-49DA-AF8A-587D7FC0962D}" srcOrd="0" destOrd="1" presId="urn:microsoft.com/office/officeart/2005/8/layout/list1"/>
    <dgm:cxn modelId="{2144CFC1-3CDC-4DD2-BD60-23EDC6C975CD}" type="presParOf" srcId="{8077F056-03BA-47E2-B26A-708C076ECA85}" destId="{688E3056-F655-4295-9E2E-142F5BC225BE}" srcOrd="0" destOrd="0" presId="urn:microsoft.com/office/officeart/2005/8/layout/list1"/>
    <dgm:cxn modelId="{4D37D75C-2E44-4B4C-8903-BD42260CECF1}" type="presParOf" srcId="{688E3056-F655-4295-9E2E-142F5BC225BE}" destId="{C6C64B75-CB0E-4C64-BC64-4D3E05C29A5A}" srcOrd="0" destOrd="0" presId="urn:microsoft.com/office/officeart/2005/8/layout/list1"/>
    <dgm:cxn modelId="{ED1A6B56-A6F2-4140-BD5E-90A9F655E3CC}" type="presParOf" srcId="{688E3056-F655-4295-9E2E-142F5BC225BE}" destId="{E0D76806-759F-4DC0-ACDC-44A8AD213DA1}" srcOrd="1" destOrd="0" presId="urn:microsoft.com/office/officeart/2005/8/layout/list1"/>
    <dgm:cxn modelId="{656F97A0-4D65-4516-B5E9-7B07D75E807C}" type="presParOf" srcId="{8077F056-03BA-47E2-B26A-708C076ECA85}" destId="{FF1044E6-260F-46FF-A2BF-F835E27FB64A}" srcOrd="1" destOrd="0" presId="urn:microsoft.com/office/officeart/2005/8/layout/list1"/>
    <dgm:cxn modelId="{54F36B08-59AC-4BD6-A6DD-4EC783C044EB}" type="presParOf" srcId="{8077F056-03BA-47E2-B26A-708C076ECA85}" destId="{9E3EDCC5-2861-49DA-AF8A-587D7FC0962D}" srcOrd="2" destOrd="0" presId="urn:microsoft.com/office/officeart/2005/8/layout/list1"/>
    <dgm:cxn modelId="{70D24E01-D5CD-4D96-B3E6-B24DB407415F}" type="presParOf" srcId="{8077F056-03BA-47E2-B26A-708C076ECA85}" destId="{865D9BC4-E0B1-4254-B51C-753CAAA16B8D}" srcOrd="3" destOrd="0" presId="urn:microsoft.com/office/officeart/2005/8/layout/list1"/>
    <dgm:cxn modelId="{881249E3-3828-4845-8A24-779256C62C94}" type="presParOf" srcId="{8077F056-03BA-47E2-B26A-708C076ECA85}" destId="{6AA121EE-C18A-41FE-A5AA-B1FFB22F928E}" srcOrd="4" destOrd="0" presId="urn:microsoft.com/office/officeart/2005/8/layout/list1"/>
    <dgm:cxn modelId="{38A1DA05-F0AF-4EDB-8DF1-BB06BB63E94F}" type="presParOf" srcId="{6AA121EE-C18A-41FE-A5AA-B1FFB22F928E}" destId="{449696B2-E524-4873-8C4F-6324DBAFEE5A}" srcOrd="0" destOrd="0" presId="urn:microsoft.com/office/officeart/2005/8/layout/list1"/>
    <dgm:cxn modelId="{48E893FC-2396-47B9-9E70-B029617A5291}" type="presParOf" srcId="{6AA121EE-C18A-41FE-A5AA-B1FFB22F928E}" destId="{E9A077A3-3346-40E9-B82B-FAE873582F48}" srcOrd="1" destOrd="0" presId="urn:microsoft.com/office/officeart/2005/8/layout/list1"/>
    <dgm:cxn modelId="{9E6BB1AB-9F03-4770-B993-2CC9DF6ADF13}" type="presParOf" srcId="{8077F056-03BA-47E2-B26A-708C076ECA85}" destId="{E8E637D4-DC25-490B-8F83-D2247E690EF3}" srcOrd="5" destOrd="0" presId="urn:microsoft.com/office/officeart/2005/8/layout/list1"/>
    <dgm:cxn modelId="{04AC641A-0583-4AB8-B8F7-6A96B49B5784}" type="presParOf" srcId="{8077F056-03BA-47E2-B26A-708C076ECA85}" destId="{4062296E-E278-4764-BC7B-FA77F717CDE5}" srcOrd="6" destOrd="0" presId="urn:microsoft.com/office/officeart/2005/8/layout/list1"/>
    <dgm:cxn modelId="{134845BD-A670-4992-B6B0-1BCFAA5D1DAA}" type="presParOf" srcId="{8077F056-03BA-47E2-B26A-708C076ECA85}" destId="{54DD0257-FE94-4A0D-A397-69A2291EAFB1}" srcOrd="7" destOrd="0" presId="urn:microsoft.com/office/officeart/2005/8/layout/list1"/>
    <dgm:cxn modelId="{7AFD939F-D78A-4967-A4A6-903E2E1F130D}" type="presParOf" srcId="{8077F056-03BA-47E2-B26A-708C076ECA85}" destId="{2AD14C4A-1B8D-4A77-92AF-541ED697A1B9}" srcOrd="8" destOrd="0" presId="urn:microsoft.com/office/officeart/2005/8/layout/list1"/>
    <dgm:cxn modelId="{5332D85B-0D32-4CDD-8926-D0C8D6138842}" type="presParOf" srcId="{2AD14C4A-1B8D-4A77-92AF-541ED697A1B9}" destId="{4DE836AF-9267-492F-9897-D6912B46CFC7}" srcOrd="0" destOrd="0" presId="urn:microsoft.com/office/officeart/2005/8/layout/list1"/>
    <dgm:cxn modelId="{1A91B6AC-3BE6-4F1B-85C1-A4C34E7A0122}" type="presParOf" srcId="{2AD14C4A-1B8D-4A77-92AF-541ED697A1B9}" destId="{CB1E91C5-C9AE-4085-9043-A7BE5FCE5A64}" srcOrd="1" destOrd="0" presId="urn:microsoft.com/office/officeart/2005/8/layout/list1"/>
    <dgm:cxn modelId="{8C87238E-6B0A-4DDB-87C9-AD6A9C086C75}" type="presParOf" srcId="{8077F056-03BA-47E2-B26A-708C076ECA85}" destId="{55E3CA7E-7BF8-4C2E-8D61-511808A405AC}" srcOrd="9" destOrd="0" presId="urn:microsoft.com/office/officeart/2005/8/layout/list1"/>
    <dgm:cxn modelId="{4DBB1C6B-42E3-4EA6-8D30-FAAF6003AFC7}" type="presParOf" srcId="{8077F056-03BA-47E2-B26A-708C076ECA85}" destId="{BBAEB742-463B-4229-A658-5A7854F3169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Einrichtung des zentralisierten </a:t>
          </a:r>
          <a:r>
            <a:rPr lang="de-DE" dirty="0" err="1"/>
            <a:t>Logging</a:t>
          </a:r>
          <a:r>
            <a:rPr lang="de-DE" dirty="0"/>
            <a:t>-Servers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Umsetzung der Richtlinien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/>
            <a:t>Evaluation von Log-Management-Tools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Ergebnisse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>
            <a:lumMod val="75000"/>
          </a:schemeClr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/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Einrichtung des zentralisierten </a:t>
          </a:r>
          <a:r>
            <a:rPr lang="de-DE" dirty="0" err="1"/>
            <a:t>Logging</a:t>
          </a:r>
          <a:r>
            <a:rPr lang="de-DE" dirty="0"/>
            <a:t>-Servers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Umsetzung der Richtlinien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/>
            <a:t>Evaluation von Log-Management-Tools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Ergebnisse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chemeClr val="bg1">
            <a:lumMod val="75000"/>
          </a:schemeClr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 err="1"/>
            <a:t>Program</a:t>
          </a:r>
          <a:r>
            <a:rPr lang="de-DE" dirty="0"/>
            <a:t> Operation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 err="1"/>
            <a:t>Semantic</a:t>
          </a:r>
          <a:r>
            <a:rPr lang="de-DE" dirty="0"/>
            <a:t> Description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AC0D0EF0-577A-4496-A30A-F443F787CA1E}">
      <dgm:prSet phldrT="[Text]"/>
      <dgm:spPr/>
      <dgm:t>
        <a:bodyPr/>
        <a:lstStyle/>
        <a:p>
          <a:r>
            <a:rPr lang="de-DE" dirty="0"/>
            <a:t>Error Message</a:t>
          </a:r>
        </a:p>
      </dgm:t>
    </dgm:pt>
    <dgm:pt modelId="{170BD27B-05BF-4CE5-8C27-D11A05CEDE09}" type="parTrans" cxnId="{87429CAD-767B-49C1-ADBE-095FCE85A79E}">
      <dgm:prSet/>
      <dgm:spPr/>
      <dgm:t>
        <a:bodyPr/>
        <a:lstStyle/>
        <a:p>
          <a:endParaRPr lang="de-DE"/>
        </a:p>
      </dgm:t>
    </dgm:pt>
    <dgm:pt modelId="{A7680542-9205-47E8-95D3-36669C49B29E}" type="sibTrans" cxnId="{87429CAD-767B-49C1-ADBE-095FCE85A79E}">
      <dgm:prSet/>
      <dgm:spPr/>
      <dgm:t>
        <a:bodyPr/>
        <a:lstStyle/>
        <a:p>
          <a:endParaRPr lang="de-DE"/>
        </a:p>
      </dgm:t>
    </dgm:pt>
    <dgm:pt modelId="{3FAE78D4-08B9-42B1-8ADC-D4EB22DCAB54}">
      <dgm:prSet phldrT="[Text]"/>
      <dgm:spPr/>
      <dgm:t>
        <a:bodyPr/>
        <a:lstStyle/>
        <a:p>
          <a:r>
            <a:rPr lang="de-DE" dirty="0" err="1"/>
            <a:t>Completed</a:t>
          </a:r>
          <a:r>
            <a:rPr lang="de-DE" dirty="0"/>
            <a:t> </a:t>
          </a:r>
          <a:r>
            <a:rPr lang="de-DE" dirty="0" err="1"/>
            <a:t>operation</a:t>
          </a:r>
          <a:endParaRPr lang="de-DE" dirty="0"/>
        </a:p>
      </dgm:t>
    </dgm:pt>
    <dgm:pt modelId="{8263D606-F8D9-4267-9B65-C77705D43E9C}" type="parTrans" cxnId="{703F5EF4-C7A6-4D68-8384-A4DAC21F6AAA}">
      <dgm:prSet/>
      <dgm:spPr/>
      <dgm:t>
        <a:bodyPr/>
        <a:lstStyle/>
        <a:p>
          <a:endParaRPr lang="de-DE"/>
        </a:p>
      </dgm:t>
    </dgm:pt>
    <dgm:pt modelId="{15156FB5-401B-4482-B580-8A09AF4E3626}" type="sibTrans" cxnId="{703F5EF4-C7A6-4D68-8384-A4DAC21F6AAA}">
      <dgm:prSet/>
      <dgm:spPr/>
      <dgm:t>
        <a:bodyPr/>
        <a:lstStyle/>
        <a:p>
          <a:endParaRPr lang="de-DE"/>
        </a:p>
      </dgm:t>
    </dgm:pt>
    <dgm:pt modelId="{75E18416-4F79-4EDC-BCFD-EE316E417639}">
      <dgm:prSet phldrT="[Text]"/>
      <dgm:spPr/>
      <dgm:t>
        <a:bodyPr/>
        <a:lstStyle/>
        <a:p>
          <a:r>
            <a:rPr lang="de-DE" dirty="0" err="1"/>
            <a:t>Current</a:t>
          </a:r>
          <a:r>
            <a:rPr lang="de-DE" dirty="0"/>
            <a:t> </a:t>
          </a:r>
          <a:r>
            <a:rPr lang="de-DE" dirty="0" err="1"/>
            <a:t>operation</a:t>
          </a:r>
          <a:endParaRPr lang="de-DE" dirty="0"/>
        </a:p>
      </dgm:t>
    </dgm:pt>
    <dgm:pt modelId="{E3923B7B-B368-48B1-A9F8-074018F5B88E}" type="parTrans" cxnId="{74C40066-A43D-440B-892F-E9860E23DE29}">
      <dgm:prSet/>
      <dgm:spPr/>
      <dgm:t>
        <a:bodyPr/>
        <a:lstStyle/>
        <a:p>
          <a:endParaRPr lang="de-DE"/>
        </a:p>
      </dgm:t>
    </dgm:pt>
    <dgm:pt modelId="{E2634F39-1C20-45F0-A1EE-00B16990C15D}" type="sibTrans" cxnId="{74C40066-A43D-440B-892F-E9860E23DE29}">
      <dgm:prSet/>
      <dgm:spPr/>
      <dgm:t>
        <a:bodyPr/>
        <a:lstStyle/>
        <a:p>
          <a:endParaRPr lang="de-DE"/>
        </a:p>
      </dgm:t>
    </dgm:pt>
    <dgm:pt modelId="{D7ECFEAD-DE44-4EDB-8F35-6EA0F6F78816}">
      <dgm:prSet phldrT="[Text]"/>
      <dgm:spPr/>
      <dgm:t>
        <a:bodyPr/>
        <a:lstStyle/>
        <a:p>
          <a:r>
            <a:rPr lang="de-DE" dirty="0"/>
            <a:t>Next </a:t>
          </a:r>
          <a:r>
            <a:rPr lang="de-DE" dirty="0" err="1"/>
            <a:t>operation</a:t>
          </a:r>
          <a:endParaRPr lang="de-DE" dirty="0"/>
        </a:p>
      </dgm:t>
    </dgm:pt>
    <dgm:pt modelId="{70CF5377-450A-4959-9F1B-552641EEFD24}" type="parTrans" cxnId="{E290B48B-D509-4308-9980-5D86D9817C72}">
      <dgm:prSet/>
      <dgm:spPr/>
      <dgm:t>
        <a:bodyPr/>
        <a:lstStyle/>
        <a:p>
          <a:endParaRPr lang="de-DE"/>
        </a:p>
      </dgm:t>
    </dgm:pt>
    <dgm:pt modelId="{65469FB7-7A18-4DEE-AEF7-8F78A5E2B814}" type="sibTrans" cxnId="{E290B48B-D509-4308-9980-5D86D9817C72}">
      <dgm:prSet/>
      <dgm:spPr/>
      <dgm:t>
        <a:bodyPr/>
        <a:lstStyle/>
        <a:p>
          <a:endParaRPr lang="de-DE"/>
        </a:p>
      </dgm:t>
    </dgm:pt>
    <dgm:pt modelId="{65F5E941-82F7-4C88-96D9-195C4FAB739E}">
      <dgm:prSet phldrT="[Text]"/>
      <dgm:spPr/>
      <dgm:t>
        <a:bodyPr/>
        <a:lstStyle/>
        <a:p>
          <a:r>
            <a:rPr lang="de-DE" dirty="0" err="1"/>
            <a:t>Exception</a:t>
          </a:r>
          <a:endParaRPr lang="de-DE" dirty="0"/>
        </a:p>
      </dgm:t>
    </dgm:pt>
    <dgm:pt modelId="{87BA1185-2690-4268-BB89-91DE962DE8BA}" type="parTrans" cxnId="{48CB3066-A28E-4178-B5E9-408EB064EC47}">
      <dgm:prSet/>
      <dgm:spPr/>
      <dgm:t>
        <a:bodyPr/>
        <a:lstStyle/>
        <a:p>
          <a:endParaRPr lang="de-DE"/>
        </a:p>
      </dgm:t>
    </dgm:pt>
    <dgm:pt modelId="{CCD2B075-D6B2-46F5-9642-8C5B33D4F433}" type="sibTrans" cxnId="{48CB3066-A28E-4178-B5E9-408EB064EC47}">
      <dgm:prSet/>
      <dgm:spPr/>
      <dgm:t>
        <a:bodyPr/>
        <a:lstStyle/>
        <a:p>
          <a:endParaRPr lang="de-DE"/>
        </a:p>
      </dgm:t>
    </dgm:pt>
    <dgm:pt modelId="{CD16C01D-3E08-4976-B4E3-EDF96F88FB71}">
      <dgm:prSet phldrT="[Text]"/>
      <dgm:spPr/>
      <dgm:t>
        <a:bodyPr/>
        <a:lstStyle/>
        <a:p>
          <a:r>
            <a:rPr lang="de-DE" dirty="0"/>
            <a:t>Value-Check</a:t>
          </a:r>
        </a:p>
      </dgm:t>
    </dgm:pt>
    <dgm:pt modelId="{FE9ED28A-FA82-46AB-9601-4FF0308A98D4}" type="parTrans" cxnId="{35D9DDD8-74D1-47C1-B09E-5062BFD2D432}">
      <dgm:prSet/>
      <dgm:spPr/>
      <dgm:t>
        <a:bodyPr/>
        <a:lstStyle/>
        <a:p>
          <a:endParaRPr lang="de-DE"/>
        </a:p>
      </dgm:t>
    </dgm:pt>
    <dgm:pt modelId="{EDCB66A6-48FC-4324-A3C1-CA7A403E2B6C}" type="sibTrans" cxnId="{35D9DDD8-74D1-47C1-B09E-5062BFD2D432}">
      <dgm:prSet/>
      <dgm:spPr/>
      <dgm:t>
        <a:bodyPr/>
        <a:lstStyle/>
        <a:p>
          <a:endParaRPr lang="de-DE"/>
        </a:p>
      </dgm:t>
    </dgm:pt>
    <dgm:pt modelId="{54C56B43-4A73-44F2-8C0F-0F112E840A03}">
      <dgm:prSet phldrT="[Text]"/>
      <dgm:spPr/>
      <dgm:t>
        <a:bodyPr/>
        <a:lstStyle/>
        <a:p>
          <a:r>
            <a:rPr lang="de-DE" dirty="0"/>
            <a:t>Variable </a:t>
          </a:r>
          <a:r>
            <a:rPr lang="de-DE" dirty="0" err="1"/>
            <a:t>description</a:t>
          </a:r>
          <a:endParaRPr lang="de-DE" dirty="0"/>
        </a:p>
      </dgm:t>
    </dgm:pt>
    <dgm:pt modelId="{D92DF364-9B2D-4189-8A43-EF9EE3932C7F}" type="parTrans" cxnId="{22EE7F7F-5968-4995-8758-866A417CF7C5}">
      <dgm:prSet/>
      <dgm:spPr/>
      <dgm:t>
        <a:bodyPr/>
        <a:lstStyle/>
        <a:p>
          <a:endParaRPr lang="de-DE"/>
        </a:p>
      </dgm:t>
    </dgm:pt>
    <dgm:pt modelId="{A1C8F88B-1193-4ABC-998D-1658FFB2AB1A}" type="sibTrans" cxnId="{22EE7F7F-5968-4995-8758-866A417CF7C5}">
      <dgm:prSet/>
      <dgm:spPr/>
      <dgm:t>
        <a:bodyPr/>
        <a:lstStyle/>
        <a:p>
          <a:endParaRPr lang="de-DE"/>
        </a:p>
      </dgm:t>
    </dgm:pt>
    <dgm:pt modelId="{1673D25E-B0E8-42D1-A7C1-63604990ECA6}">
      <dgm:prSet phldrT="[Text]"/>
      <dgm:spPr/>
      <dgm:t>
        <a:bodyPr/>
        <a:lstStyle/>
        <a:p>
          <a:r>
            <a:rPr lang="de-DE" dirty="0" err="1"/>
            <a:t>Function</a:t>
          </a:r>
          <a:r>
            <a:rPr lang="de-DE" dirty="0"/>
            <a:t> </a:t>
          </a:r>
          <a:r>
            <a:rPr lang="de-DE" dirty="0" err="1"/>
            <a:t>description</a:t>
          </a:r>
          <a:endParaRPr lang="de-DE" dirty="0"/>
        </a:p>
      </dgm:t>
    </dgm:pt>
    <dgm:pt modelId="{00BA278C-52B1-48E0-84AC-E6D0931E0053}" type="parTrans" cxnId="{77772951-D5F4-4BA2-A6AD-C0795E243273}">
      <dgm:prSet/>
      <dgm:spPr/>
      <dgm:t>
        <a:bodyPr/>
        <a:lstStyle/>
        <a:p>
          <a:endParaRPr lang="de-DE"/>
        </a:p>
      </dgm:t>
    </dgm:pt>
    <dgm:pt modelId="{1E376BB7-32A6-4214-8E5D-3F550C6AAAEA}" type="sibTrans" cxnId="{77772951-D5F4-4BA2-A6AD-C0795E243273}">
      <dgm:prSet/>
      <dgm:spPr/>
      <dgm:t>
        <a:bodyPr/>
        <a:lstStyle/>
        <a:p>
          <a:endParaRPr lang="de-DE"/>
        </a:p>
      </dgm:t>
    </dgm:pt>
    <dgm:pt modelId="{F0F77139-6924-4D22-981E-8E30612DF6B2}">
      <dgm:prSet phldrT="[Text]"/>
      <dgm:spPr/>
      <dgm:t>
        <a:bodyPr/>
        <a:lstStyle/>
        <a:p>
          <a:r>
            <a:rPr lang="de-DE" dirty="0" err="1"/>
            <a:t>Branch</a:t>
          </a:r>
          <a:r>
            <a:rPr lang="de-DE" dirty="0"/>
            <a:t> </a:t>
          </a:r>
          <a:r>
            <a:rPr lang="de-DE" dirty="0" err="1"/>
            <a:t>description</a:t>
          </a:r>
          <a:endParaRPr lang="de-DE" dirty="0"/>
        </a:p>
      </dgm:t>
    </dgm:pt>
    <dgm:pt modelId="{E827D19B-C2A9-4991-83B9-42EF621B0267}" type="parTrans" cxnId="{8BFCDBF6-A523-4B6A-9707-B5045C24552F}">
      <dgm:prSet/>
      <dgm:spPr/>
      <dgm:t>
        <a:bodyPr/>
        <a:lstStyle/>
        <a:p>
          <a:endParaRPr lang="de-DE"/>
        </a:p>
      </dgm:t>
    </dgm:pt>
    <dgm:pt modelId="{2B9A1819-5F81-4B4D-A6D6-AF5DBE9813A1}" type="sibTrans" cxnId="{8BFCDBF6-A523-4B6A-9707-B5045C24552F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3" custLinFactX="30028" custLinFactNeighborX="100000" custLinFactNeighborY="-2428">
        <dgm:presLayoutVars>
          <dgm:chMax val="0"/>
          <dgm:bulletEnabled val="1"/>
        </dgm:presLayoutVars>
      </dgm:prSet>
      <dgm:spPr/>
    </dgm:pt>
    <dgm:pt modelId="{97462731-09A8-44F4-A891-8C17A1D5D7CA}" type="pres">
      <dgm:prSet presAssocID="{B6E43522-BE96-4F69-BBAD-FC911A035191}" presName="childText" presStyleLbl="revTx" presStyleIdx="0" presStyleCnt="3" custLinFactX="30028" custLinFactNeighborX="100000" custLinFactNeighborY="-5370">
        <dgm:presLayoutVars>
          <dgm:bulletEnabled val="1"/>
        </dgm:presLayoutVars>
      </dgm:prSet>
      <dgm:spPr/>
    </dgm:pt>
    <dgm:pt modelId="{BEE69E6A-9707-4578-94AC-9AE6C348DF93}" type="pres">
      <dgm:prSet presAssocID="{AC0D0EF0-577A-4496-A30A-F443F787CA1E}" presName="parentText" presStyleLbl="node1" presStyleIdx="1" presStyleCnt="3" custLinFactX="30028" custLinFactNeighborX="100000" custLinFactNeighborY="-3195">
        <dgm:presLayoutVars>
          <dgm:chMax val="0"/>
          <dgm:bulletEnabled val="1"/>
        </dgm:presLayoutVars>
      </dgm:prSet>
      <dgm:spPr/>
    </dgm:pt>
    <dgm:pt modelId="{B5F35077-D103-4BEA-A778-F589EEBDD389}" type="pres">
      <dgm:prSet presAssocID="{AC0D0EF0-577A-4496-A30A-F443F787CA1E}" presName="childText" presStyleLbl="revTx" presStyleIdx="1" presStyleCnt="3" custLinFactX="30028" custLinFactNeighborX="100000" custLinFactNeighborY="-5370">
        <dgm:presLayoutVars>
          <dgm:bulletEnabled val="1"/>
        </dgm:presLayoutVars>
      </dgm:prSet>
      <dgm:spPr/>
    </dgm:pt>
    <dgm:pt modelId="{AC64C5B0-CD5D-4633-A3E4-9A608AFE1056}" type="pres">
      <dgm:prSet presAssocID="{811800F1-D792-4671-8A98-22ACB524E3FF}" presName="parentText" presStyleLbl="node1" presStyleIdx="2" presStyleCnt="3" custLinFactX="30028" custLinFactNeighborX="100000" custLinFactNeighborY="-2428">
        <dgm:presLayoutVars>
          <dgm:chMax val="0"/>
          <dgm:bulletEnabled val="1"/>
        </dgm:presLayoutVars>
      </dgm:prSet>
      <dgm:spPr/>
    </dgm:pt>
    <dgm:pt modelId="{934436A0-2123-4222-8BD0-7C4674411F78}" type="pres">
      <dgm:prSet presAssocID="{811800F1-D792-4671-8A98-22ACB524E3FF}" presName="childText" presStyleLbl="revTx" presStyleIdx="2" presStyleCnt="3" custLinFactX="30028" custLinFactNeighborX="100000" custLinFactNeighborY="-5370">
        <dgm:presLayoutVars>
          <dgm:bulletEnabled val="1"/>
        </dgm:presLayoutVars>
      </dgm:prSet>
      <dgm:spPr/>
    </dgm:pt>
  </dgm:ptLst>
  <dgm:cxnLst>
    <dgm:cxn modelId="{EEDF360C-2B04-4166-86D5-6E1C1D1E0A0D}" type="presOf" srcId="{CD16C01D-3E08-4976-B4E3-EDF96F88FB71}" destId="{B5F35077-D103-4BEA-A778-F589EEBDD389}" srcOrd="0" destOrd="1" presId="urn:microsoft.com/office/officeart/2005/8/layout/vList2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3A0B1122-34F2-48CD-A5DF-57DB68685B96}" type="presOf" srcId="{811800F1-D792-4671-8A98-22ACB524E3FF}" destId="{AC64C5B0-CD5D-4633-A3E4-9A608AFE1056}" srcOrd="0" destOrd="0" presId="urn:microsoft.com/office/officeart/2005/8/layout/vList2"/>
    <dgm:cxn modelId="{425EF22F-E5AF-460A-B3FD-5F1D61EBCCAF}" type="presOf" srcId="{D7ECFEAD-DE44-4EDB-8F35-6EA0F6F78816}" destId="{97462731-09A8-44F4-A891-8C17A1D5D7CA}" srcOrd="0" destOrd="2" presId="urn:microsoft.com/office/officeart/2005/8/layout/vList2"/>
    <dgm:cxn modelId="{630E553C-F99A-414D-86C0-3A1ABAEAC8D3}" type="presOf" srcId="{AC0D0EF0-577A-4496-A30A-F443F787CA1E}" destId="{BEE69E6A-9707-4578-94AC-9AE6C348DF93}" srcOrd="0" destOrd="0" presId="urn:microsoft.com/office/officeart/2005/8/layout/vList2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74C40066-A43D-440B-892F-E9860E23DE29}" srcId="{B6E43522-BE96-4F69-BBAD-FC911A035191}" destId="{75E18416-4F79-4EDC-BCFD-EE316E417639}" srcOrd="1" destOrd="0" parTransId="{E3923B7B-B368-48B1-A9F8-074018F5B88E}" sibTransId="{E2634F39-1C20-45F0-A1EE-00B16990C15D}"/>
    <dgm:cxn modelId="{48CB3066-A28E-4178-B5E9-408EB064EC47}" srcId="{AC0D0EF0-577A-4496-A30A-F443F787CA1E}" destId="{65F5E941-82F7-4C88-96D9-195C4FAB739E}" srcOrd="0" destOrd="0" parTransId="{87BA1185-2690-4268-BB89-91DE962DE8BA}" sibTransId="{CCD2B075-D6B2-46F5-9642-8C5B33D4F433}"/>
    <dgm:cxn modelId="{D3C5C370-5B6E-450C-B16C-0DBF7D9B049A}" type="presOf" srcId="{75E18416-4F79-4EDC-BCFD-EE316E417639}" destId="{97462731-09A8-44F4-A891-8C17A1D5D7CA}" srcOrd="0" destOrd="1" presId="urn:microsoft.com/office/officeart/2005/8/layout/vList2"/>
    <dgm:cxn modelId="{77772951-D5F4-4BA2-A6AD-C0795E243273}" srcId="{811800F1-D792-4671-8A98-22ACB524E3FF}" destId="{1673D25E-B0E8-42D1-A7C1-63604990ECA6}" srcOrd="1" destOrd="0" parTransId="{00BA278C-52B1-48E0-84AC-E6D0931E0053}" sibTransId="{1E376BB7-32A6-4214-8E5D-3F550C6AAAEA}"/>
    <dgm:cxn modelId="{22EE7F7F-5968-4995-8758-866A417CF7C5}" srcId="{811800F1-D792-4671-8A98-22ACB524E3FF}" destId="{54C56B43-4A73-44F2-8C0F-0F112E840A03}" srcOrd="0" destOrd="0" parTransId="{D92DF364-9B2D-4189-8A43-EF9EE3932C7F}" sibTransId="{A1C8F88B-1193-4ABC-998D-1658FFB2AB1A}"/>
    <dgm:cxn modelId="{DAB7D881-BB3A-4165-A755-7AF588B4FF34}" type="presOf" srcId="{F0F77139-6924-4D22-981E-8E30612DF6B2}" destId="{934436A0-2123-4222-8BD0-7C4674411F78}" srcOrd="0" destOrd="2" presId="urn:microsoft.com/office/officeart/2005/8/layout/vList2"/>
    <dgm:cxn modelId="{E290B48B-D509-4308-9980-5D86D9817C72}" srcId="{B6E43522-BE96-4F69-BBAD-FC911A035191}" destId="{D7ECFEAD-DE44-4EDB-8F35-6EA0F6F78816}" srcOrd="2" destOrd="0" parTransId="{70CF5377-450A-4959-9F1B-552641EEFD24}" sibTransId="{65469FB7-7A18-4DEE-AEF7-8F78A5E2B814}"/>
    <dgm:cxn modelId="{250070A9-4E3D-4D7E-882D-577940E2DE54}" type="presOf" srcId="{65F5E941-82F7-4C88-96D9-195C4FAB739E}" destId="{B5F35077-D103-4BEA-A778-F589EEBDD389}" srcOrd="0" destOrd="0" presId="urn:microsoft.com/office/officeart/2005/8/layout/vList2"/>
    <dgm:cxn modelId="{87429CAD-767B-49C1-ADBE-095FCE85A79E}" srcId="{F95EEEA6-80DC-4C2F-A2FC-D1A31FCB322E}" destId="{AC0D0EF0-577A-4496-A30A-F443F787CA1E}" srcOrd="1" destOrd="0" parTransId="{170BD27B-05BF-4CE5-8C27-D11A05CEDE09}" sibTransId="{A7680542-9205-47E8-95D3-36669C49B29E}"/>
    <dgm:cxn modelId="{31D99BBE-84D6-4D82-A3DA-1C689B6A96B8}" type="presOf" srcId="{1673D25E-B0E8-42D1-A7C1-63604990ECA6}" destId="{934436A0-2123-4222-8BD0-7C4674411F78}" srcOrd="0" destOrd="1" presId="urn:microsoft.com/office/officeart/2005/8/layout/vList2"/>
    <dgm:cxn modelId="{35D9DDD8-74D1-47C1-B09E-5062BFD2D432}" srcId="{AC0D0EF0-577A-4496-A30A-F443F787CA1E}" destId="{CD16C01D-3E08-4976-B4E3-EDF96F88FB71}" srcOrd="1" destOrd="0" parTransId="{FE9ED28A-FA82-46AB-9601-4FF0308A98D4}" sibTransId="{EDCB66A6-48FC-4324-A3C1-CA7A403E2B6C}"/>
    <dgm:cxn modelId="{CD104CE8-C119-4884-B4C0-18CDCEFDCB68}" type="presOf" srcId="{54C56B43-4A73-44F2-8C0F-0F112E840A03}" destId="{934436A0-2123-4222-8BD0-7C4674411F78}" srcOrd="0" destOrd="0" presId="urn:microsoft.com/office/officeart/2005/8/layout/vList2"/>
    <dgm:cxn modelId="{54CA1CEB-4EBB-45C3-81FB-8D201CD09F37}" type="presOf" srcId="{B6E43522-BE96-4F69-BBAD-FC911A035191}" destId="{E3716B09-971D-40F3-A5AF-A3AB2FF637FC}" srcOrd="0" destOrd="0" presId="urn:microsoft.com/office/officeart/2005/8/layout/vList2"/>
    <dgm:cxn modelId="{703F5EF4-C7A6-4D68-8384-A4DAC21F6AAA}" srcId="{B6E43522-BE96-4F69-BBAD-FC911A035191}" destId="{3FAE78D4-08B9-42B1-8ADC-D4EB22DCAB54}" srcOrd="0" destOrd="0" parTransId="{8263D606-F8D9-4267-9B65-C77705D43E9C}" sibTransId="{15156FB5-401B-4482-B580-8A09AF4E3626}"/>
    <dgm:cxn modelId="{B54538F5-1715-48F4-810C-DA6C0C74243F}" type="presOf" srcId="{3FAE78D4-08B9-42B1-8ADC-D4EB22DCAB54}" destId="{97462731-09A8-44F4-A891-8C17A1D5D7CA}" srcOrd="0" destOrd="0" presId="urn:microsoft.com/office/officeart/2005/8/layout/vList2"/>
    <dgm:cxn modelId="{8BFCDBF6-A523-4B6A-9707-B5045C24552F}" srcId="{811800F1-D792-4671-8A98-22ACB524E3FF}" destId="{F0F77139-6924-4D22-981E-8E30612DF6B2}" srcOrd="2" destOrd="0" parTransId="{E827D19B-C2A9-4991-83B9-42EF621B0267}" sibTransId="{2B9A1819-5F81-4B4D-A6D6-AF5DBE9813A1}"/>
    <dgm:cxn modelId="{8EAAC5F9-E677-40AA-8407-12363E902429}" type="presOf" srcId="{F95EEEA6-80DC-4C2F-A2FC-D1A31FCB322E}" destId="{91CD15F1-FA0D-44DC-A63D-ECA5DF509688}" srcOrd="0" destOrd="0" presId="urn:microsoft.com/office/officeart/2005/8/layout/vList2"/>
    <dgm:cxn modelId="{4B61FB46-C9D3-44E1-A7D4-20C34F025433}" type="presParOf" srcId="{91CD15F1-FA0D-44DC-A63D-ECA5DF509688}" destId="{E3716B09-971D-40F3-A5AF-A3AB2FF637FC}" srcOrd="0" destOrd="0" presId="urn:microsoft.com/office/officeart/2005/8/layout/vList2"/>
    <dgm:cxn modelId="{78E29F4A-6173-4BB3-BC7A-C86A7D022843}" type="presParOf" srcId="{91CD15F1-FA0D-44DC-A63D-ECA5DF509688}" destId="{97462731-09A8-44F4-A891-8C17A1D5D7CA}" srcOrd="1" destOrd="0" presId="urn:microsoft.com/office/officeart/2005/8/layout/vList2"/>
    <dgm:cxn modelId="{090AFC3C-D2B9-43E4-8C4B-00A9DFCA5F0F}" type="presParOf" srcId="{91CD15F1-FA0D-44DC-A63D-ECA5DF509688}" destId="{BEE69E6A-9707-4578-94AC-9AE6C348DF93}" srcOrd="2" destOrd="0" presId="urn:microsoft.com/office/officeart/2005/8/layout/vList2"/>
    <dgm:cxn modelId="{E2E12DCA-5DAE-4FBC-AAC3-47512D2D6F09}" type="presParOf" srcId="{91CD15F1-FA0D-44DC-A63D-ECA5DF509688}" destId="{B5F35077-D103-4BEA-A778-F589EEBDD389}" srcOrd="3" destOrd="0" presId="urn:microsoft.com/office/officeart/2005/8/layout/vList2"/>
    <dgm:cxn modelId="{3F595835-25DA-4865-9110-65B6C33FC8DE}" type="presParOf" srcId="{91CD15F1-FA0D-44DC-A63D-ECA5DF509688}" destId="{AC64C5B0-CD5D-4633-A3E4-9A608AFE1056}" srcOrd="4" destOrd="0" presId="urn:microsoft.com/office/officeart/2005/8/layout/vList2"/>
    <dgm:cxn modelId="{352D60D3-37CA-4C92-9E67-52F1299C7C7A}" type="presParOf" srcId="{91CD15F1-FA0D-44DC-A63D-ECA5DF509688}" destId="{934436A0-2123-4222-8BD0-7C4674411F7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Einrichtung des zentralisierten </a:t>
          </a:r>
          <a:r>
            <a:rPr lang="de-DE" dirty="0" err="1"/>
            <a:t>Logging</a:t>
          </a:r>
          <a:r>
            <a:rPr lang="de-DE" dirty="0"/>
            <a:t>-Servers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Umsetzung der Richtlinien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/>
            <a:t>Evaluation von Log-Management-Tools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Ergebnisse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chemeClr val="bg1"/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>
        <a:solidFill>
          <a:schemeClr val="bg1">
            <a:lumMod val="75000"/>
          </a:schemeClr>
        </a:solidFill>
      </dgm:spPr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Einrichtung des zentralisierten </a:t>
          </a:r>
          <a:r>
            <a:rPr lang="de-DE" dirty="0" err="1"/>
            <a:t>Logging</a:t>
          </a:r>
          <a:r>
            <a:rPr lang="de-DE" dirty="0"/>
            <a:t>-Servers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Umsetzung der Richtlinien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/>
            <a:t>Evaluation von Log-Management-Tools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Ergebnisse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chemeClr val="bg1"/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>
        <a:solidFill>
          <a:schemeClr val="bg1"/>
        </a:solidFill>
      </dgm:spPr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>
        <a:solidFill>
          <a:schemeClr val="bg1">
            <a:lumMod val="75000"/>
          </a:schemeClr>
        </a:solidFill>
      </dgm:spPr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chemeClr val="bg1"/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>
        <a:solidFill>
          <a:schemeClr val="bg1"/>
        </a:solidFill>
      </dgm:spPr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>
        <a:solidFill>
          <a:srgbClr val="8E969D"/>
        </a:solidFill>
      </dgm:spPr>
    </dgm:pt>
  </dgm:ptLst>
  <dgm:cxnLst>
    <dgm:cxn modelId="{5AAD1211-C379-442B-B468-40CA65F14A4C}" type="presOf" srcId="{A3914A9D-F3DE-4214-AC4F-18E69F46FB9A}" destId="{683AB623-CBA8-434C-A473-B12BC6E9C2E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D8D31B99-A9B8-4816-BFBA-CB98B970C0CB}" type="presOf" srcId="{6997EDF3-F16D-45F3-989D-7070DEC904FD}" destId="{184C3F63-B329-4564-9150-04495D528D5E}" srcOrd="0" destOrd="0" presId="urn:microsoft.com/office/officeart/2008/layout/VerticalCurvedList"/>
    <dgm:cxn modelId="{6CB035D6-0E03-4500-863A-C58C786FBAE2}" type="presOf" srcId="{F62B63FE-BD36-48FD-9F99-256A18A94D4C}" destId="{A24FD770-614A-41B5-A9CA-569C7386B1D0}" srcOrd="0" destOrd="0" presId="urn:microsoft.com/office/officeart/2008/layout/VerticalCurvedList"/>
    <dgm:cxn modelId="{DDB6E8DC-4B9C-45F1-9AFC-D3AF38332F8F}" type="presOf" srcId="{EA1FEA3B-3E93-4B0F-8584-A0D43A46236B}" destId="{6CB10B2F-9879-444C-B4A0-F363ABCA091A}" srcOrd="0" destOrd="0" presId="urn:microsoft.com/office/officeart/2008/layout/VerticalCurvedList"/>
    <dgm:cxn modelId="{053981E4-9DBD-4014-9D15-9AEC40A535F7}" type="presOf" srcId="{B1C54EDB-27F1-4D0B-A8E2-EBCDA053C028}" destId="{F78AEB79-CB02-4F89-81BD-172C796338E9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D2E826F9-45CB-42CA-94D7-985D99EB0635}" type="presOf" srcId="{3761138B-2241-4F22-9709-C27A0E843D65}" destId="{21AB6E52-E6FB-439F-90D2-48CFDCEA222C}" srcOrd="0" destOrd="0" presId="urn:microsoft.com/office/officeart/2008/layout/VerticalCurvedList"/>
    <dgm:cxn modelId="{0A85D5F9-BD7E-40EE-BD8C-E8A9A3148E2A}" type="presOf" srcId="{5996AE49-9E4D-42D5-887B-5A9C97427805}" destId="{20AC5343-B263-453E-9113-2FDE30C5DDA3}" srcOrd="0" destOrd="0" presId="urn:microsoft.com/office/officeart/2008/layout/VerticalCurvedList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8F3F58FF-DBFC-4852-BE3A-34A8D1CF9A65}" type="presOf" srcId="{86B87B53-EBC9-40E5-9DA1-78E3F32D75E7}" destId="{85D374A2-4262-410F-800B-988A373C62C6}" srcOrd="0" destOrd="0" presId="urn:microsoft.com/office/officeart/2008/layout/VerticalCurvedList"/>
    <dgm:cxn modelId="{DE538AC9-B2F8-46A2-89E6-CF7B4141888A}" type="presParOf" srcId="{184C3F63-B329-4564-9150-04495D528D5E}" destId="{0633A375-2783-4609-93BE-C7D03BF2A340}" srcOrd="0" destOrd="0" presId="urn:microsoft.com/office/officeart/2008/layout/VerticalCurvedList"/>
    <dgm:cxn modelId="{22A93BC5-D151-4280-9C8A-027B9E5F7C2A}" type="presParOf" srcId="{0633A375-2783-4609-93BE-C7D03BF2A340}" destId="{868EE911-B357-43D6-8DEE-E3411972FFCF}" srcOrd="0" destOrd="0" presId="urn:microsoft.com/office/officeart/2008/layout/VerticalCurvedList"/>
    <dgm:cxn modelId="{ED4A77F5-9ABB-4F5D-9B3C-90FF3160C43E}" type="presParOf" srcId="{868EE911-B357-43D6-8DEE-E3411972FFCF}" destId="{171243DC-6A53-42DA-9A24-6E56CCCC6113}" srcOrd="0" destOrd="0" presId="urn:microsoft.com/office/officeart/2008/layout/VerticalCurvedList"/>
    <dgm:cxn modelId="{4E3DD286-3B96-4370-8EE5-5449B18D4DE7}" type="presParOf" srcId="{868EE911-B357-43D6-8DEE-E3411972FFCF}" destId="{21AB6E52-E6FB-439F-90D2-48CFDCEA222C}" srcOrd="1" destOrd="0" presId="urn:microsoft.com/office/officeart/2008/layout/VerticalCurvedList"/>
    <dgm:cxn modelId="{BDDB6942-EBB1-49C4-AABE-A320169F7278}" type="presParOf" srcId="{868EE911-B357-43D6-8DEE-E3411972FFCF}" destId="{1AC5ED35-CCCE-4059-8032-00F52D5D52EA}" srcOrd="2" destOrd="0" presId="urn:microsoft.com/office/officeart/2008/layout/VerticalCurvedList"/>
    <dgm:cxn modelId="{C84931CE-BFF5-40D8-87C9-764F323008E5}" type="presParOf" srcId="{868EE911-B357-43D6-8DEE-E3411972FFCF}" destId="{1DF41974-BF5B-43AE-AAC8-3EA9A4644019}" srcOrd="3" destOrd="0" presId="urn:microsoft.com/office/officeart/2008/layout/VerticalCurvedList"/>
    <dgm:cxn modelId="{D4177B9A-CDE8-4699-8A8B-3A712A7150F4}" type="presParOf" srcId="{0633A375-2783-4609-93BE-C7D03BF2A340}" destId="{6CB10B2F-9879-444C-B4A0-F363ABCA091A}" srcOrd="1" destOrd="0" presId="urn:microsoft.com/office/officeart/2008/layout/VerticalCurvedList"/>
    <dgm:cxn modelId="{03EC3CF5-0757-4B7A-AB4C-B74BBC23E672}" type="presParOf" srcId="{0633A375-2783-4609-93BE-C7D03BF2A340}" destId="{D7CB13C4-E59D-4B93-AF70-475CD78A872A}" srcOrd="2" destOrd="0" presId="urn:microsoft.com/office/officeart/2008/layout/VerticalCurvedList"/>
    <dgm:cxn modelId="{CDEBEE6B-1E08-46C6-A787-234668E68D2E}" type="presParOf" srcId="{D7CB13C4-E59D-4B93-AF70-475CD78A872A}" destId="{C0EBFD42-BEF6-4EE7-9E97-B792EC2750B1}" srcOrd="0" destOrd="0" presId="urn:microsoft.com/office/officeart/2008/layout/VerticalCurvedList"/>
    <dgm:cxn modelId="{79DA3E02-9ACB-4BAC-97BB-B1019287A769}" type="presParOf" srcId="{0633A375-2783-4609-93BE-C7D03BF2A340}" destId="{20AC5343-B263-453E-9113-2FDE30C5DDA3}" srcOrd="3" destOrd="0" presId="urn:microsoft.com/office/officeart/2008/layout/VerticalCurvedList"/>
    <dgm:cxn modelId="{6BC978D7-8AA4-4F54-B4F8-817AD382FEF4}" type="presParOf" srcId="{0633A375-2783-4609-93BE-C7D03BF2A340}" destId="{922875A5-CDDA-482F-ADD9-3E2FF10E006C}" srcOrd="4" destOrd="0" presId="urn:microsoft.com/office/officeart/2008/layout/VerticalCurvedList"/>
    <dgm:cxn modelId="{913EA4ED-8FB6-4D2F-BF91-5F4040C65EDA}" type="presParOf" srcId="{922875A5-CDDA-482F-ADD9-3E2FF10E006C}" destId="{EF89F8C3-A96D-4BF5-88D8-8F94599E533C}" srcOrd="0" destOrd="0" presId="urn:microsoft.com/office/officeart/2008/layout/VerticalCurvedList"/>
    <dgm:cxn modelId="{FB5FBD40-0F8F-41E5-85E5-3C1035BC3CD5}" type="presParOf" srcId="{0633A375-2783-4609-93BE-C7D03BF2A340}" destId="{A24FD770-614A-41B5-A9CA-569C7386B1D0}" srcOrd="5" destOrd="0" presId="urn:microsoft.com/office/officeart/2008/layout/VerticalCurvedList"/>
    <dgm:cxn modelId="{4927BBBA-99B1-471E-AB97-57C9A96EB039}" type="presParOf" srcId="{0633A375-2783-4609-93BE-C7D03BF2A340}" destId="{2D0F9BE1-7440-4BC4-A53A-B1C4E3A913CE}" srcOrd="6" destOrd="0" presId="urn:microsoft.com/office/officeart/2008/layout/VerticalCurvedList"/>
    <dgm:cxn modelId="{36533AF8-C762-4988-A148-232948EE9924}" type="presParOf" srcId="{2D0F9BE1-7440-4BC4-A53A-B1C4E3A913CE}" destId="{B64BA658-EE10-4819-B2E3-5AC54DC5B199}" srcOrd="0" destOrd="0" presId="urn:microsoft.com/office/officeart/2008/layout/VerticalCurvedList"/>
    <dgm:cxn modelId="{39590886-C470-4E5E-8015-284D39448064}" type="presParOf" srcId="{0633A375-2783-4609-93BE-C7D03BF2A340}" destId="{85D374A2-4262-410F-800B-988A373C62C6}" srcOrd="7" destOrd="0" presId="urn:microsoft.com/office/officeart/2008/layout/VerticalCurvedList"/>
    <dgm:cxn modelId="{BB70DD96-CE0D-4D2C-8EC6-7164592B84AD}" type="presParOf" srcId="{0633A375-2783-4609-93BE-C7D03BF2A340}" destId="{661C954E-078F-4CEE-B38C-6E786FCE7030}" srcOrd="8" destOrd="0" presId="urn:microsoft.com/office/officeart/2008/layout/VerticalCurvedList"/>
    <dgm:cxn modelId="{822D4478-6918-4124-9953-5717AEA7BF2F}" type="presParOf" srcId="{661C954E-078F-4CEE-B38C-6E786FCE7030}" destId="{8E3A7CF7-7B13-480D-8426-B0C0046E4C26}" srcOrd="0" destOrd="0" presId="urn:microsoft.com/office/officeart/2008/layout/VerticalCurvedList"/>
    <dgm:cxn modelId="{6CA1B42A-E08B-4F1C-BC34-3327FA0934A7}" type="presParOf" srcId="{0633A375-2783-4609-93BE-C7D03BF2A340}" destId="{F78AEB79-CB02-4F89-81BD-172C796338E9}" srcOrd="9" destOrd="0" presId="urn:microsoft.com/office/officeart/2008/layout/VerticalCurvedList"/>
    <dgm:cxn modelId="{B7FF4CD7-4634-418F-9DBB-3E93D1FE5134}" type="presParOf" srcId="{0633A375-2783-4609-93BE-C7D03BF2A340}" destId="{B3095D8B-7D1A-4FB6-B7C2-7213BEC7CBE2}" srcOrd="10" destOrd="0" presId="urn:microsoft.com/office/officeart/2008/layout/VerticalCurvedList"/>
    <dgm:cxn modelId="{74A81586-2D19-4411-A4AB-4E9C6AF2349A}" type="presParOf" srcId="{B3095D8B-7D1A-4FB6-B7C2-7213BEC7CBE2}" destId="{3CB56FDF-A779-4321-9317-BB61FA016D61}" srcOrd="0" destOrd="0" presId="urn:microsoft.com/office/officeart/2008/layout/VerticalCurvedList"/>
    <dgm:cxn modelId="{568D2A0F-7EAD-4240-A265-086E46FF7E23}" type="presParOf" srcId="{0633A375-2783-4609-93BE-C7D03BF2A340}" destId="{683AB623-CBA8-434C-A473-B12BC6E9C2E0}" srcOrd="11" destOrd="0" presId="urn:microsoft.com/office/officeart/2008/layout/VerticalCurvedList"/>
    <dgm:cxn modelId="{43769FC6-3B5D-41E7-BF4F-746E99BA2B16}" type="presParOf" srcId="{0633A375-2783-4609-93BE-C7D03BF2A340}" destId="{0990E579-A375-427D-A58D-80A4D47A484E}" srcOrd="12" destOrd="0" presId="urn:microsoft.com/office/officeart/2008/layout/VerticalCurvedList"/>
    <dgm:cxn modelId="{16B8DF2D-384E-4F83-90F3-9FA265DFF3D1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Code ist chaotisch und unstrukturiert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4A0704A9-02B1-44F5-8E00-87DE7CFF72AC}">
      <dgm:prSet phldrT="[Text]"/>
      <dgm:spPr/>
      <dgm:t>
        <a:bodyPr/>
        <a:lstStyle/>
        <a:p>
          <a:r>
            <a:rPr lang="de-DE" dirty="0"/>
            <a:t>Team</a:t>
          </a:r>
          <a:r>
            <a:rPr lang="de-DE" baseline="0" dirty="0"/>
            <a:t> nutzt veraltetes Framework</a:t>
          </a:r>
        </a:p>
      </dgm:t>
    </dgm:pt>
    <dgm:pt modelId="{67372352-1F4C-4D7F-8B42-1FD93B25D22C}" type="parTrans" cxnId="{75D26D11-CE15-44C1-ADCD-748B1AFE185A}">
      <dgm:prSet/>
      <dgm:spPr/>
      <dgm:t>
        <a:bodyPr/>
        <a:lstStyle/>
        <a:p>
          <a:endParaRPr lang="de-DE"/>
        </a:p>
      </dgm:t>
    </dgm:pt>
    <dgm:pt modelId="{AF8F996B-8283-4702-827B-E7235C070373}" type="sibTrans" cxnId="{75D26D11-CE15-44C1-ADCD-748B1AFE185A}">
      <dgm:prSet/>
      <dgm:spPr/>
      <dgm:t>
        <a:bodyPr/>
        <a:lstStyle/>
        <a:p>
          <a:endParaRPr lang="de-DE"/>
        </a:p>
      </dgm:t>
    </dgm:pt>
    <dgm:pt modelId="{A82CF85E-C859-4E71-BB55-4745C9E8B290}">
      <dgm:prSet phldrT="[Text]"/>
      <dgm:spPr/>
      <dgm:t>
        <a:bodyPr/>
        <a:lstStyle/>
        <a:p>
          <a:r>
            <a:rPr lang="de-DE" baseline="0" dirty="0"/>
            <a:t>Strukturiertes Arbeiten durch Richtlinien möglich</a:t>
          </a:r>
        </a:p>
      </dgm:t>
    </dgm:pt>
    <dgm:pt modelId="{8FA44059-BCC1-4D63-A7C0-B8B059C27938}" type="parTrans" cxnId="{9C9324DC-5958-4489-A7F0-B172E97A7747}">
      <dgm:prSet/>
      <dgm:spPr/>
      <dgm:t>
        <a:bodyPr/>
        <a:lstStyle/>
        <a:p>
          <a:endParaRPr lang="de-DE"/>
        </a:p>
      </dgm:t>
    </dgm:pt>
    <dgm:pt modelId="{6F1A40E9-D080-421A-AE8F-9006A1E04C24}" type="sibTrans" cxnId="{9C9324DC-5958-4489-A7F0-B172E97A7747}">
      <dgm:prSet/>
      <dgm:spPr/>
      <dgm:t>
        <a:bodyPr/>
        <a:lstStyle/>
        <a:p>
          <a:endParaRPr lang="de-DE"/>
        </a:p>
      </dgm:t>
    </dgm:pt>
    <dgm:pt modelId="{391A254B-A064-49A0-81B6-9012E0DBA92B}">
      <dgm:prSet phldrT="[Text]"/>
      <dgm:spPr/>
      <dgm:t>
        <a:bodyPr/>
        <a:lstStyle/>
        <a:p>
          <a:r>
            <a:rPr lang="de-DE" baseline="0" dirty="0"/>
            <a:t>Zentralisierter </a:t>
          </a:r>
          <a:r>
            <a:rPr lang="de-DE" baseline="0" dirty="0" err="1"/>
            <a:t>Logging</a:t>
          </a:r>
          <a:r>
            <a:rPr lang="de-DE" baseline="0" dirty="0"/>
            <a:t> Server</a:t>
          </a:r>
        </a:p>
      </dgm:t>
    </dgm:pt>
    <dgm:pt modelId="{672D4519-9F45-4DE0-93C6-8B615582E57A}" type="parTrans" cxnId="{BD54D3F1-8650-4FFB-8DB8-D3C2A808512A}">
      <dgm:prSet/>
      <dgm:spPr/>
      <dgm:t>
        <a:bodyPr/>
        <a:lstStyle/>
        <a:p>
          <a:endParaRPr lang="de-DE"/>
        </a:p>
      </dgm:t>
    </dgm:pt>
    <dgm:pt modelId="{267CF884-9C93-4EE6-9885-ED8DC46F8D50}" type="sibTrans" cxnId="{BD54D3F1-8650-4FFB-8DB8-D3C2A808512A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E8D4B3-E90F-4E97-B871-16777853E7CE}" type="pres">
      <dgm:prSet presAssocID="{328B7052-87F7-4920-A2B5-7F2998AB44C4}" presName="spacer" presStyleCnt="0"/>
      <dgm:spPr/>
    </dgm:pt>
    <dgm:pt modelId="{444DBBC2-B33E-4F50-ADC5-CDAE3C141030}" type="pres">
      <dgm:prSet presAssocID="{4A0704A9-02B1-44F5-8E00-87DE7CFF72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353640-4862-49AC-9936-ADD7E02E19FC}" type="pres">
      <dgm:prSet presAssocID="{AF8F996B-8283-4702-827B-E7235C070373}" presName="spacer" presStyleCnt="0"/>
      <dgm:spPr/>
    </dgm:pt>
    <dgm:pt modelId="{2F698E21-69A4-408D-BD3B-D8654374939D}" type="pres">
      <dgm:prSet presAssocID="{A82CF85E-C859-4E71-BB55-4745C9E8B2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F98678-E385-480C-BC9A-60B474DF3102}" type="pres">
      <dgm:prSet presAssocID="{6F1A40E9-D080-421A-AE8F-9006A1E04C24}" presName="spacer" presStyleCnt="0"/>
      <dgm:spPr/>
    </dgm:pt>
    <dgm:pt modelId="{AC5B7F97-E1E6-4412-8185-07026A399ADF}" type="pres">
      <dgm:prSet presAssocID="{391A254B-A064-49A0-81B6-9012E0DBA9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D26D11-CE15-44C1-ADCD-748B1AFE185A}" srcId="{F95EEEA6-80DC-4C2F-A2FC-D1A31FCB322E}" destId="{4A0704A9-02B1-44F5-8E00-87DE7CFF72AC}" srcOrd="1" destOrd="0" parTransId="{67372352-1F4C-4D7F-8B42-1FD93B25D22C}" sibTransId="{AF8F996B-8283-4702-827B-E7235C070373}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8C067F1B-6CAD-45D8-836C-6CDA5805FA53}" type="presOf" srcId="{391A254B-A064-49A0-81B6-9012E0DBA92B}" destId="{AC5B7F97-E1E6-4412-8185-07026A399ADF}" srcOrd="0" destOrd="0" presId="urn:microsoft.com/office/officeart/2005/8/layout/vList2"/>
    <dgm:cxn modelId="{0630AF22-48DE-4EC2-993F-213BA4C0E47D}" type="presOf" srcId="{A82CF85E-C859-4E71-BB55-4745C9E8B290}" destId="{2F698E21-69A4-408D-BD3B-D8654374939D}" srcOrd="0" destOrd="0" presId="urn:microsoft.com/office/officeart/2005/8/layout/vList2"/>
    <dgm:cxn modelId="{830FED39-7BFD-4F42-88CD-0CC93DF613AD}" type="presOf" srcId="{F95EEEA6-80DC-4C2F-A2FC-D1A31FCB322E}" destId="{91CD15F1-FA0D-44DC-A63D-ECA5DF509688}" srcOrd="0" destOrd="0" presId="urn:microsoft.com/office/officeart/2005/8/layout/vList2"/>
    <dgm:cxn modelId="{1200FD8E-F9F1-450A-BA00-F0CA887A5202}" type="presOf" srcId="{4A0704A9-02B1-44F5-8E00-87DE7CFF72AC}" destId="{444DBBC2-B33E-4F50-ADC5-CDAE3C141030}" srcOrd="0" destOrd="0" presId="urn:microsoft.com/office/officeart/2005/8/layout/vList2"/>
    <dgm:cxn modelId="{543C5BCB-40E9-4818-ACE1-BBA7024B24D6}" type="presOf" srcId="{B6E43522-BE96-4F69-BBAD-FC911A035191}" destId="{E3716B09-971D-40F3-A5AF-A3AB2FF637FC}" srcOrd="0" destOrd="0" presId="urn:microsoft.com/office/officeart/2005/8/layout/vList2"/>
    <dgm:cxn modelId="{9C9324DC-5958-4489-A7F0-B172E97A7747}" srcId="{F95EEEA6-80DC-4C2F-A2FC-D1A31FCB322E}" destId="{A82CF85E-C859-4E71-BB55-4745C9E8B290}" srcOrd="2" destOrd="0" parTransId="{8FA44059-BCC1-4D63-A7C0-B8B059C27938}" sibTransId="{6F1A40E9-D080-421A-AE8F-9006A1E04C24}"/>
    <dgm:cxn modelId="{BD54D3F1-8650-4FFB-8DB8-D3C2A808512A}" srcId="{F95EEEA6-80DC-4C2F-A2FC-D1A31FCB322E}" destId="{391A254B-A064-49A0-81B6-9012E0DBA92B}" srcOrd="3" destOrd="0" parTransId="{672D4519-9F45-4DE0-93C6-8B615582E57A}" sibTransId="{267CF884-9C93-4EE6-9885-ED8DC46F8D50}"/>
    <dgm:cxn modelId="{D6783A40-8F17-4010-9CCF-EF56332F4BDC}" type="presParOf" srcId="{91CD15F1-FA0D-44DC-A63D-ECA5DF509688}" destId="{E3716B09-971D-40F3-A5AF-A3AB2FF637FC}" srcOrd="0" destOrd="0" presId="urn:microsoft.com/office/officeart/2005/8/layout/vList2"/>
    <dgm:cxn modelId="{F6B65FA0-B133-4D84-9E04-33CCD4366016}" type="presParOf" srcId="{91CD15F1-FA0D-44DC-A63D-ECA5DF509688}" destId="{B5E8D4B3-E90F-4E97-B871-16777853E7CE}" srcOrd="1" destOrd="0" presId="urn:microsoft.com/office/officeart/2005/8/layout/vList2"/>
    <dgm:cxn modelId="{3EEA28FA-2F8C-4212-B8A6-01B04F9D5857}" type="presParOf" srcId="{91CD15F1-FA0D-44DC-A63D-ECA5DF509688}" destId="{444DBBC2-B33E-4F50-ADC5-CDAE3C141030}" srcOrd="2" destOrd="0" presId="urn:microsoft.com/office/officeart/2005/8/layout/vList2"/>
    <dgm:cxn modelId="{228540C3-746A-4A22-A4CA-8B1F0EFEDA5A}" type="presParOf" srcId="{91CD15F1-FA0D-44DC-A63D-ECA5DF509688}" destId="{65353640-4862-49AC-9936-ADD7E02E19FC}" srcOrd="3" destOrd="0" presId="urn:microsoft.com/office/officeart/2005/8/layout/vList2"/>
    <dgm:cxn modelId="{E7B163EE-BE1A-40EE-BE8A-957360390A15}" type="presParOf" srcId="{91CD15F1-FA0D-44DC-A63D-ECA5DF509688}" destId="{2F698E21-69A4-408D-BD3B-D8654374939D}" srcOrd="4" destOrd="0" presId="urn:microsoft.com/office/officeart/2005/8/layout/vList2"/>
    <dgm:cxn modelId="{A2E7B6D1-1D54-4FCD-8C7A-737524BA39A0}" type="presParOf" srcId="{91CD15F1-FA0D-44DC-A63D-ECA5DF509688}" destId="{38F98678-E385-480C-BC9A-60B474DF3102}" srcOrd="5" destOrd="0" presId="urn:microsoft.com/office/officeart/2005/8/layout/vList2"/>
    <dgm:cxn modelId="{C12304A8-3008-450B-B594-317F19B2A44F}" type="presParOf" srcId="{91CD15F1-FA0D-44DC-A63D-ECA5DF509688}" destId="{AC5B7F97-E1E6-4412-8185-07026A399A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/>
            <a:t>Umsetzen</a:t>
          </a:r>
          <a:r>
            <a:rPr lang="de-DE" baseline="0" dirty="0"/>
            <a:t> der Richtlinien</a:t>
          </a:r>
          <a:endParaRPr lang="de-DE" dirty="0"/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/>
            <a:t>Einrichten eines zentralisierten </a:t>
          </a:r>
          <a:r>
            <a:rPr lang="de-DE" dirty="0" err="1"/>
            <a:t>Logging</a:t>
          </a:r>
          <a:r>
            <a:rPr lang="de-DE" dirty="0"/>
            <a:t> Servers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4A0704A9-02B1-44F5-8E00-87DE7CFF72AC}">
      <dgm:prSet phldrT="[Text]"/>
      <dgm:spPr/>
      <dgm:t>
        <a:bodyPr/>
        <a:lstStyle/>
        <a:p>
          <a:r>
            <a:rPr lang="de-DE" dirty="0"/>
            <a:t>Evaluierung von Log-Management Tools</a:t>
          </a:r>
        </a:p>
      </dgm:t>
    </dgm:pt>
    <dgm:pt modelId="{67372352-1F4C-4D7F-8B42-1FD93B25D22C}" type="parTrans" cxnId="{75D26D11-CE15-44C1-ADCD-748B1AFE185A}">
      <dgm:prSet/>
      <dgm:spPr/>
      <dgm:t>
        <a:bodyPr/>
        <a:lstStyle/>
        <a:p>
          <a:endParaRPr lang="de-DE"/>
        </a:p>
      </dgm:t>
    </dgm:pt>
    <dgm:pt modelId="{AF8F996B-8283-4702-827B-E7235C070373}" type="sibTrans" cxnId="{75D26D11-CE15-44C1-ADCD-748B1AFE185A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E8D4B3-E90F-4E97-B871-16777853E7CE}" type="pres">
      <dgm:prSet presAssocID="{328B7052-87F7-4920-A2B5-7F2998AB44C4}" presName="spacer" presStyleCnt="0"/>
      <dgm:spPr/>
    </dgm:pt>
    <dgm:pt modelId="{444DBBC2-B33E-4F50-ADC5-CDAE3C141030}" type="pres">
      <dgm:prSet presAssocID="{4A0704A9-02B1-44F5-8E00-87DE7CFF72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5353640-4862-49AC-9936-ADD7E02E19FC}" type="pres">
      <dgm:prSet presAssocID="{AF8F996B-8283-4702-827B-E7235C070373}" presName="spacer" presStyleCnt="0"/>
      <dgm:spPr/>
    </dgm:pt>
    <dgm:pt modelId="{AC64C5B0-CD5D-4633-A3E4-9A608AFE1056}" type="pres">
      <dgm:prSet presAssocID="{811800F1-D792-4671-8A98-22ACB524E3F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D26D11-CE15-44C1-ADCD-748B1AFE185A}" srcId="{F95EEEA6-80DC-4C2F-A2FC-D1A31FCB322E}" destId="{4A0704A9-02B1-44F5-8E00-87DE7CFF72AC}" srcOrd="1" destOrd="0" parTransId="{67372352-1F4C-4D7F-8B42-1FD93B25D22C}" sibTransId="{AF8F996B-8283-4702-827B-E7235C070373}"/>
    <dgm:cxn modelId="{F5FE4313-C250-42D9-B97A-28D04800A0AD}" type="presOf" srcId="{B6E43522-BE96-4F69-BBAD-FC911A035191}" destId="{E3716B09-971D-40F3-A5AF-A3AB2FF637FC}" srcOrd="0" destOrd="0" presId="urn:microsoft.com/office/officeart/2005/8/layout/vList2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E6E7001F-00A7-4346-8CB1-38E4E28E2830}" type="presOf" srcId="{4A0704A9-02B1-44F5-8E00-87DE7CFF72AC}" destId="{444DBBC2-B33E-4F50-ADC5-CDAE3C141030}" srcOrd="0" destOrd="0" presId="urn:microsoft.com/office/officeart/2005/8/layout/vList2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3627117F-505B-46E7-BF89-6A14E56901C4}" type="presOf" srcId="{F95EEEA6-80DC-4C2F-A2FC-D1A31FCB322E}" destId="{91CD15F1-FA0D-44DC-A63D-ECA5DF509688}" srcOrd="0" destOrd="0" presId="urn:microsoft.com/office/officeart/2005/8/layout/vList2"/>
    <dgm:cxn modelId="{18F3E88B-2DC9-435B-B54C-E121FE37F7E3}" type="presOf" srcId="{811800F1-D792-4671-8A98-22ACB524E3FF}" destId="{AC64C5B0-CD5D-4633-A3E4-9A608AFE1056}" srcOrd="0" destOrd="0" presId="urn:microsoft.com/office/officeart/2005/8/layout/vList2"/>
    <dgm:cxn modelId="{1E2E627D-62B5-4AAB-894F-A0E0DFD9F183}" type="presParOf" srcId="{91CD15F1-FA0D-44DC-A63D-ECA5DF509688}" destId="{E3716B09-971D-40F3-A5AF-A3AB2FF637FC}" srcOrd="0" destOrd="0" presId="urn:microsoft.com/office/officeart/2005/8/layout/vList2"/>
    <dgm:cxn modelId="{9C58CA65-D874-4D0B-86F0-89F77B64CFB1}" type="presParOf" srcId="{91CD15F1-FA0D-44DC-A63D-ECA5DF509688}" destId="{B5E8D4B3-E90F-4E97-B871-16777853E7CE}" srcOrd="1" destOrd="0" presId="urn:microsoft.com/office/officeart/2005/8/layout/vList2"/>
    <dgm:cxn modelId="{2E09D2F8-36E1-429F-BA2B-FDBEE784F108}" type="presParOf" srcId="{91CD15F1-FA0D-44DC-A63D-ECA5DF509688}" destId="{444DBBC2-B33E-4F50-ADC5-CDAE3C141030}" srcOrd="2" destOrd="0" presId="urn:microsoft.com/office/officeart/2005/8/layout/vList2"/>
    <dgm:cxn modelId="{5E3DF8E6-13C4-44EC-8113-56154E94C257}" type="presParOf" srcId="{91CD15F1-FA0D-44DC-A63D-ECA5DF509688}" destId="{65353640-4862-49AC-9936-ADD7E02E19FC}" srcOrd="3" destOrd="0" presId="urn:microsoft.com/office/officeart/2005/8/layout/vList2"/>
    <dgm:cxn modelId="{FB2E6301-24C1-4599-B489-D3CD9E011C5F}" type="presParOf" srcId="{91CD15F1-FA0D-44DC-A63D-ECA5DF509688}" destId="{AC64C5B0-CD5D-4633-A3E4-9A608AFE105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Evaluation von Log-Management-Tools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Einrichtung des zentralisierten </a:t>
          </a:r>
          <a:r>
            <a:rPr lang="de-DE" sz="1500" kern="1200" dirty="0" err="1"/>
            <a:t>Logging</a:t>
          </a:r>
          <a:r>
            <a:rPr lang="de-DE" sz="1500" kern="1200" dirty="0"/>
            <a:t>-Servers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Umsetzung der Richtlinien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Ergebnisse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Evaluation von Log-Management-Tools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Einrichtung des zentralisierten </a:t>
          </a:r>
          <a:r>
            <a:rPr lang="de-DE" sz="1500" kern="1200" dirty="0" err="1"/>
            <a:t>Logging</a:t>
          </a:r>
          <a:r>
            <a:rPr lang="de-DE" sz="1500" kern="1200" dirty="0"/>
            <a:t>-Servers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Umsetzung der Richtlinien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Ergebnisse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EDCC5-2861-49DA-AF8A-587D7FC0962D}">
      <dsp:nvSpPr>
        <dsp:cNvPr id="0" name=""/>
        <dsp:cNvSpPr/>
      </dsp:nvSpPr>
      <dsp:spPr>
        <a:xfrm>
          <a:off x="0" y="248784"/>
          <a:ext cx="6096000" cy="94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70764" rIns="47311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Alle Anforderungen werden erfüllt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Beide Tools sind geeignet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Wegen Zeitmangels nur Elastic Stack</a:t>
          </a:r>
        </a:p>
      </dsp:txBody>
      <dsp:txXfrm>
        <a:off x="0" y="248784"/>
        <a:ext cx="6096000" cy="941850"/>
      </dsp:txXfrm>
    </dsp:sp>
    <dsp:sp modelId="{E0D76806-759F-4DC0-ACDC-44A8AD213DA1}">
      <dsp:nvSpPr>
        <dsp:cNvPr id="0" name=""/>
        <dsp:cNvSpPr/>
      </dsp:nvSpPr>
      <dsp:spPr>
        <a:xfrm>
          <a:off x="304800" y="56904"/>
          <a:ext cx="42672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Graylog vs. Elastic Stack </a:t>
          </a:r>
        </a:p>
      </dsp:txBody>
      <dsp:txXfrm>
        <a:off x="323534" y="75638"/>
        <a:ext cx="4229732" cy="346292"/>
      </dsp:txXfrm>
    </dsp:sp>
    <dsp:sp modelId="{4062296E-E278-4764-BC7B-FA77F717CDE5}">
      <dsp:nvSpPr>
        <dsp:cNvPr id="0" name=""/>
        <dsp:cNvSpPr/>
      </dsp:nvSpPr>
      <dsp:spPr>
        <a:xfrm>
          <a:off x="0" y="1452714"/>
          <a:ext cx="6096000" cy="5425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70764" rIns="47311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Ausschlusskriterium für Sematext: Installation mit Docker </a:t>
          </a:r>
        </a:p>
      </dsp:txBody>
      <dsp:txXfrm>
        <a:off x="0" y="1452714"/>
        <a:ext cx="6096000" cy="542587"/>
      </dsp:txXfrm>
    </dsp:sp>
    <dsp:sp modelId="{E9A077A3-3346-40E9-B82B-FAE873582F48}">
      <dsp:nvSpPr>
        <dsp:cNvPr id="0" name=""/>
        <dsp:cNvSpPr/>
      </dsp:nvSpPr>
      <dsp:spPr>
        <a:xfrm>
          <a:off x="304800" y="1260834"/>
          <a:ext cx="42672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Sematext vs. Elastic Stack</a:t>
          </a:r>
        </a:p>
      </dsp:txBody>
      <dsp:txXfrm>
        <a:off x="323534" y="1279568"/>
        <a:ext cx="4229732" cy="346292"/>
      </dsp:txXfrm>
    </dsp:sp>
    <dsp:sp modelId="{BBAEB742-463B-4229-A658-5A7854F31693}">
      <dsp:nvSpPr>
        <dsp:cNvPr id="0" name=""/>
        <dsp:cNvSpPr/>
      </dsp:nvSpPr>
      <dsp:spPr>
        <a:xfrm>
          <a:off x="0" y="2257381"/>
          <a:ext cx="6096000" cy="94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70764" rIns="47311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Strukturieren von Logs mit beiden Möglich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Kein Ausschlusskriterium vorhanden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Wegen dem Elastic Stack wird Logstash verwendet </a:t>
          </a:r>
        </a:p>
      </dsp:txBody>
      <dsp:txXfrm>
        <a:off x="0" y="2257381"/>
        <a:ext cx="6096000" cy="941850"/>
      </dsp:txXfrm>
    </dsp:sp>
    <dsp:sp modelId="{CB1E91C5-C9AE-4085-9043-A7BE5FCE5A64}">
      <dsp:nvSpPr>
        <dsp:cNvPr id="0" name=""/>
        <dsp:cNvSpPr/>
      </dsp:nvSpPr>
      <dsp:spPr>
        <a:xfrm>
          <a:off x="304800" y="2065501"/>
          <a:ext cx="42672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Fluentd vs. Logstash</a:t>
          </a:r>
        </a:p>
      </dsp:txBody>
      <dsp:txXfrm>
        <a:off x="323534" y="2084235"/>
        <a:ext cx="4229732" cy="34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Evaluation von Log-Management-Tools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Einrichtung des zentralisierten </a:t>
          </a:r>
          <a:r>
            <a:rPr lang="de-DE" sz="1500" kern="1200" dirty="0" err="1"/>
            <a:t>Logging</a:t>
          </a:r>
          <a:r>
            <a:rPr lang="de-DE" sz="1500" kern="1200" dirty="0"/>
            <a:t>-Servers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Umsetzung der Richtlinien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Ergebnisse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Evaluation von Log-Management-Tools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Einrichtung des zentralisierten </a:t>
          </a:r>
          <a:r>
            <a:rPr lang="de-DE" sz="1500" kern="1200" dirty="0" err="1"/>
            <a:t>Logging</a:t>
          </a:r>
          <a:r>
            <a:rPr lang="de-DE" sz="1500" kern="1200" dirty="0"/>
            <a:t>-Servers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Umsetzung der Richtlinien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Ergebnisse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49735"/>
          <a:ext cx="48612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 err="1"/>
            <a:t>Program</a:t>
          </a:r>
          <a:r>
            <a:rPr lang="de-DE" sz="1800" kern="1200" dirty="0"/>
            <a:t> Operation</a:t>
          </a:r>
        </a:p>
      </dsp:txBody>
      <dsp:txXfrm>
        <a:off x="20561" y="70296"/>
        <a:ext cx="4820106" cy="380078"/>
      </dsp:txXfrm>
    </dsp:sp>
    <dsp:sp modelId="{97462731-09A8-44F4-A891-8C17A1D5D7CA}">
      <dsp:nvSpPr>
        <dsp:cNvPr id="0" name=""/>
        <dsp:cNvSpPr/>
      </dsp:nvSpPr>
      <dsp:spPr>
        <a:xfrm>
          <a:off x="0" y="465053"/>
          <a:ext cx="4861228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 err="1"/>
            <a:t>Completed</a:t>
          </a:r>
          <a:r>
            <a:rPr lang="de-DE" sz="1400" kern="1200" dirty="0"/>
            <a:t> </a:t>
          </a:r>
          <a:r>
            <a:rPr lang="de-DE" sz="1400" kern="1200" dirty="0" err="1"/>
            <a:t>operation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 err="1"/>
            <a:t>Current</a:t>
          </a:r>
          <a:r>
            <a:rPr lang="de-DE" sz="1400" kern="1200" dirty="0"/>
            <a:t> </a:t>
          </a:r>
          <a:r>
            <a:rPr lang="de-DE" sz="1400" kern="1200" dirty="0" err="1"/>
            <a:t>operation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Next </a:t>
          </a:r>
          <a:r>
            <a:rPr lang="de-DE" sz="1400" kern="1200" dirty="0" err="1"/>
            <a:t>operation</a:t>
          </a:r>
          <a:endParaRPr lang="de-DE" sz="1400" kern="1200" dirty="0"/>
        </a:p>
      </dsp:txBody>
      <dsp:txXfrm>
        <a:off x="0" y="465053"/>
        <a:ext cx="4861228" cy="689310"/>
      </dsp:txXfrm>
    </dsp:sp>
    <dsp:sp modelId="{BEE69E6A-9707-4578-94AC-9AE6C348DF93}">
      <dsp:nvSpPr>
        <dsp:cNvPr id="0" name=""/>
        <dsp:cNvSpPr/>
      </dsp:nvSpPr>
      <dsp:spPr>
        <a:xfrm>
          <a:off x="0" y="1162398"/>
          <a:ext cx="48612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Error Message</a:t>
          </a:r>
        </a:p>
      </dsp:txBody>
      <dsp:txXfrm>
        <a:off x="20561" y="1182959"/>
        <a:ext cx="4820106" cy="380078"/>
      </dsp:txXfrm>
    </dsp:sp>
    <dsp:sp modelId="{B5F35077-D103-4BEA-A778-F589EEBDD389}">
      <dsp:nvSpPr>
        <dsp:cNvPr id="0" name=""/>
        <dsp:cNvSpPr/>
      </dsp:nvSpPr>
      <dsp:spPr>
        <a:xfrm>
          <a:off x="0" y="1575563"/>
          <a:ext cx="4861228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 err="1"/>
            <a:t>Exception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Value-Check</a:t>
          </a:r>
        </a:p>
      </dsp:txBody>
      <dsp:txXfrm>
        <a:off x="0" y="1575563"/>
        <a:ext cx="4861228" cy="456435"/>
      </dsp:txXfrm>
    </dsp:sp>
    <dsp:sp modelId="{AC64C5B0-CD5D-4633-A3E4-9A608AFE1056}">
      <dsp:nvSpPr>
        <dsp:cNvPr id="0" name=""/>
        <dsp:cNvSpPr/>
      </dsp:nvSpPr>
      <dsp:spPr>
        <a:xfrm>
          <a:off x="0" y="2037880"/>
          <a:ext cx="4861228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 err="1"/>
            <a:t>Semantic</a:t>
          </a:r>
          <a:r>
            <a:rPr lang="de-DE" sz="1800" kern="1200" dirty="0"/>
            <a:t> Description</a:t>
          </a:r>
        </a:p>
      </dsp:txBody>
      <dsp:txXfrm>
        <a:off x="20561" y="2058441"/>
        <a:ext cx="4820106" cy="380078"/>
      </dsp:txXfrm>
    </dsp:sp>
    <dsp:sp modelId="{934436A0-2123-4222-8BD0-7C4674411F78}">
      <dsp:nvSpPr>
        <dsp:cNvPr id="0" name=""/>
        <dsp:cNvSpPr/>
      </dsp:nvSpPr>
      <dsp:spPr>
        <a:xfrm>
          <a:off x="0" y="2453198"/>
          <a:ext cx="4861228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4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Variable </a:t>
          </a:r>
          <a:r>
            <a:rPr lang="de-DE" sz="1400" kern="1200" dirty="0" err="1"/>
            <a:t>description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 err="1"/>
            <a:t>Function</a:t>
          </a:r>
          <a:r>
            <a:rPr lang="de-DE" sz="1400" kern="1200" dirty="0"/>
            <a:t> </a:t>
          </a:r>
          <a:r>
            <a:rPr lang="de-DE" sz="1400" kern="1200" dirty="0" err="1"/>
            <a:t>description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 err="1"/>
            <a:t>Branch</a:t>
          </a:r>
          <a:r>
            <a:rPr lang="de-DE" sz="1400" kern="1200" dirty="0"/>
            <a:t> </a:t>
          </a:r>
          <a:r>
            <a:rPr lang="de-DE" sz="1400" kern="1200" dirty="0" err="1"/>
            <a:t>description</a:t>
          </a:r>
          <a:endParaRPr lang="de-DE" sz="1400" kern="1200" dirty="0"/>
        </a:p>
      </dsp:txBody>
      <dsp:txXfrm>
        <a:off x="0" y="2453198"/>
        <a:ext cx="4861228" cy="689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Evaluation von Log-Management-Tools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Einrichtung des zentralisierten </a:t>
          </a:r>
          <a:r>
            <a:rPr lang="de-DE" sz="1500" kern="1200" dirty="0" err="1"/>
            <a:t>Logging</a:t>
          </a:r>
          <a:r>
            <a:rPr lang="de-DE" sz="1500" kern="1200" dirty="0"/>
            <a:t>-Servers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Umsetzung der Richtlinien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Ergebnisse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Evaluation von Log-Management-Tools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Einrichtung des zentralisierten </a:t>
          </a:r>
          <a:r>
            <a:rPr lang="de-DE" sz="1500" kern="1200" dirty="0" err="1"/>
            <a:t>Logging</a:t>
          </a:r>
          <a:r>
            <a:rPr lang="de-DE" sz="1500" kern="1200" dirty="0"/>
            <a:t>-Servers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Umsetzung der Richtlinien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Ergebnisse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rgbClr val="8E96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414188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/>
            <a:t>Logging</a:t>
          </a:r>
          <a:r>
            <a:rPr lang="de-DE" sz="2500" kern="1200" dirty="0"/>
            <a:t> Code ist chaotisch und unstrukturiert</a:t>
          </a:r>
        </a:p>
      </dsp:txBody>
      <dsp:txXfrm>
        <a:off x="28557" y="442745"/>
        <a:ext cx="7027567" cy="527886"/>
      </dsp:txXfrm>
    </dsp:sp>
    <dsp:sp modelId="{444DBBC2-B33E-4F50-ADC5-CDAE3C141030}">
      <dsp:nvSpPr>
        <dsp:cNvPr id="0" name=""/>
        <dsp:cNvSpPr/>
      </dsp:nvSpPr>
      <dsp:spPr>
        <a:xfrm>
          <a:off x="0" y="1071188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Team</a:t>
          </a:r>
          <a:r>
            <a:rPr lang="de-DE" sz="2500" kern="1200" baseline="0" dirty="0"/>
            <a:t> nutzt veraltetes Framework</a:t>
          </a:r>
        </a:p>
      </dsp:txBody>
      <dsp:txXfrm>
        <a:off x="28557" y="1099745"/>
        <a:ext cx="7027567" cy="527886"/>
      </dsp:txXfrm>
    </dsp:sp>
    <dsp:sp modelId="{2F698E21-69A4-408D-BD3B-D8654374939D}">
      <dsp:nvSpPr>
        <dsp:cNvPr id="0" name=""/>
        <dsp:cNvSpPr/>
      </dsp:nvSpPr>
      <dsp:spPr>
        <a:xfrm>
          <a:off x="0" y="1728188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baseline="0" dirty="0"/>
            <a:t>Strukturiertes Arbeiten durch Richtlinien möglich</a:t>
          </a:r>
        </a:p>
      </dsp:txBody>
      <dsp:txXfrm>
        <a:off x="28557" y="1756745"/>
        <a:ext cx="7027567" cy="527886"/>
      </dsp:txXfrm>
    </dsp:sp>
    <dsp:sp modelId="{AC5B7F97-E1E6-4412-8185-07026A399ADF}">
      <dsp:nvSpPr>
        <dsp:cNvPr id="0" name=""/>
        <dsp:cNvSpPr/>
      </dsp:nvSpPr>
      <dsp:spPr>
        <a:xfrm>
          <a:off x="0" y="2385187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baseline="0" dirty="0"/>
            <a:t>Zentralisierter </a:t>
          </a:r>
          <a:r>
            <a:rPr lang="de-DE" sz="2500" kern="1200" baseline="0" dirty="0" err="1"/>
            <a:t>Logging</a:t>
          </a:r>
          <a:r>
            <a:rPr lang="de-DE" sz="2500" kern="1200" baseline="0" dirty="0"/>
            <a:t> Server</a:t>
          </a:r>
        </a:p>
      </dsp:txBody>
      <dsp:txXfrm>
        <a:off x="28557" y="2413744"/>
        <a:ext cx="7027567" cy="52788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6971"/>
          <a:ext cx="6048400" cy="950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Umsetzen</a:t>
          </a:r>
          <a:r>
            <a:rPr lang="de-DE" sz="2500" kern="1200" baseline="0" dirty="0"/>
            <a:t> der Richtlinien</a:t>
          </a:r>
          <a:endParaRPr lang="de-DE" sz="2500" kern="1200" dirty="0"/>
        </a:p>
      </dsp:txBody>
      <dsp:txXfrm>
        <a:off x="46406" y="53377"/>
        <a:ext cx="5955588" cy="857813"/>
      </dsp:txXfrm>
    </dsp:sp>
    <dsp:sp modelId="{444DBBC2-B33E-4F50-ADC5-CDAE3C141030}">
      <dsp:nvSpPr>
        <dsp:cNvPr id="0" name=""/>
        <dsp:cNvSpPr/>
      </dsp:nvSpPr>
      <dsp:spPr>
        <a:xfrm>
          <a:off x="0" y="1029596"/>
          <a:ext cx="6048400" cy="950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Evaluierung von Log-Management Tools</a:t>
          </a:r>
        </a:p>
      </dsp:txBody>
      <dsp:txXfrm>
        <a:off x="46406" y="1076002"/>
        <a:ext cx="5955588" cy="857813"/>
      </dsp:txXfrm>
    </dsp:sp>
    <dsp:sp modelId="{AC64C5B0-CD5D-4633-A3E4-9A608AFE1056}">
      <dsp:nvSpPr>
        <dsp:cNvPr id="0" name=""/>
        <dsp:cNvSpPr/>
      </dsp:nvSpPr>
      <dsp:spPr>
        <a:xfrm>
          <a:off x="0" y="2052221"/>
          <a:ext cx="6048400" cy="950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Einrichten eines zentralisierten </a:t>
          </a:r>
          <a:r>
            <a:rPr lang="de-DE" sz="2500" kern="1200" dirty="0" err="1"/>
            <a:t>Logging</a:t>
          </a:r>
          <a:r>
            <a:rPr lang="de-DE" sz="2500" kern="1200" dirty="0"/>
            <a:t> Servers</a:t>
          </a:r>
        </a:p>
      </dsp:txBody>
      <dsp:txXfrm>
        <a:off x="46406" y="2098627"/>
        <a:ext cx="5955588" cy="857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3C7D2-80CA-41FA-BF0D-EAE240477737}" type="datetimeFigureOut">
              <a:rPr lang="de-DE" smtClean="0"/>
              <a:t>07.02.2021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89FF7-6720-41DA-8615-7B5C1CB0E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88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>
                <a:solidFill>
                  <a:prstClr val="black"/>
                </a:solidFill>
              </a:rPr>
              <a:pPr/>
              <a:t>1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15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73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Team Portale betreut</a:t>
            </a:r>
            <a:r>
              <a:rPr lang="de-DE" baseline="0" dirty="0"/>
              <a:t> eine hohe </a:t>
            </a:r>
            <a:r>
              <a:rPr lang="de-DE" baseline="0" dirty="0" err="1"/>
              <a:t>anzahl</a:t>
            </a:r>
            <a:r>
              <a:rPr lang="de-DE" baseline="0" dirty="0"/>
              <a:t> an Applikation </a:t>
            </a:r>
          </a:p>
          <a:p>
            <a:r>
              <a:rPr lang="de-DE" baseline="0" dirty="0"/>
              <a:t>Dabei treten häufig Fehler auf die Reproduziert werden müssen</a:t>
            </a:r>
          </a:p>
          <a:p>
            <a:r>
              <a:rPr lang="de-DE" baseline="0" dirty="0"/>
              <a:t>Leider ist das vorhandene </a:t>
            </a:r>
            <a:r>
              <a:rPr lang="de-DE" baseline="0" dirty="0" err="1"/>
              <a:t>Logging</a:t>
            </a:r>
            <a:r>
              <a:rPr lang="de-DE" baseline="0" dirty="0"/>
              <a:t> eher Chaotisch und unstrukturiert</a:t>
            </a:r>
          </a:p>
          <a:p>
            <a:r>
              <a:rPr lang="de-DE" baseline="0" dirty="0"/>
              <a:t>Das erschwert die Reproduktion von aufgetretenen Fehlern </a:t>
            </a:r>
          </a:p>
          <a:p>
            <a:r>
              <a:rPr lang="de-DE" baseline="0" dirty="0"/>
              <a:t>Das unstrukturierte </a:t>
            </a:r>
            <a:r>
              <a:rPr lang="de-DE" baseline="0" dirty="0" err="1"/>
              <a:t>Logging</a:t>
            </a:r>
            <a:r>
              <a:rPr lang="de-DE" baseline="0" dirty="0"/>
              <a:t> resultiert daraus, dass keine Klaren Vorgaben gelten im </a:t>
            </a:r>
            <a:r>
              <a:rPr lang="de-DE" baseline="0" dirty="0" err="1"/>
              <a:t>Logging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Die Ziele für die Projektarbeit waren das erstellen von </a:t>
            </a:r>
            <a:r>
              <a:rPr lang="de-DE" baseline="0" dirty="0" err="1"/>
              <a:t>Logging</a:t>
            </a:r>
            <a:r>
              <a:rPr lang="de-DE" baseline="0" dirty="0"/>
              <a:t>-Richtlinien </a:t>
            </a:r>
          </a:p>
          <a:p>
            <a:r>
              <a:rPr lang="de-DE" baseline="0" dirty="0"/>
              <a:t>An die sich die Entwickler halten können </a:t>
            </a:r>
          </a:p>
          <a:p>
            <a:r>
              <a:rPr lang="de-DE" baseline="0" dirty="0"/>
              <a:t>Dadurch soll dann auch die Arbeit der Entwickler erleichtert werden</a:t>
            </a:r>
          </a:p>
          <a:p>
            <a:r>
              <a:rPr lang="de-DE" baseline="0" dirty="0"/>
              <a:t>Durch die Richtlinien soll das Bugtracking in Zukunft auch einfacher möglich sein </a:t>
            </a:r>
          </a:p>
          <a:p>
            <a:r>
              <a:rPr lang="de-DE" baseline="0" dirty="0"/>
              <a:t>Zum Schluss sollen dann noch Beispiele gezeigt werden, wie nicht geloggt werden soll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656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Team Portale betreut</a:t>
            </a:r>
            <a:r>
              <a:rPr lang="de-DE" baseline="0" dirty="0"/>
              <a:t> eine hohe </a:t>
            </a:r>
            <a:r>
              <a:rPr lang="de-DE" baseline="0" dirty="0" err="1"/>
              <a:t>anzahl</a:t>
            </a:r>
            <a:r>
              <a:rPr lang="de-DE" baseline="0" dirty="0"/>
              <a:t> an Applikation </a:t>
            </a:r>
          </a:p>
          <a:p>
            <a:r>
              <a:rPr lang="de-DE" baseline="0" dirty="0"/>
              <a:t>Dabei treten häufig Fehler auf die Reproduziert werden müssen</a:t>
            </a:r>
          </a:p>
          <a:p>
            <a:r>
              <a:rPr lang="de-DE" baseline="0" dirty="0"/>
              <a:t>Leider ist das vorhandene </a:t>
            </a:r>
            <a:r>
              <a:rPr lang="de-DE" baseline="0" dirty="0" err="1"/>
              <a:t>Logging</a:t>
            </a:r>
            <a:r>
              <a:rPr lang="de-DE" baseline="0" dirty="0"/>
              <a:t> eher Chaotisch und unstrukturiert</a:t>
            </a:r>
          </a:p>
          <a:p>
            <a:r>
              <a:rPr lang="de-DE" baseline="0" dirty="0"/>
              <a:t>Das erschwert die Reproduktion von aufgetretenen Fehlern </a:t>
            </a:r>
          </a:p>
          <a:p>
            <a:r>
              <a:rPr lang="de-DE" baseline="0" dirty="0"/>
              <a:t>Das unstrukturierte </a:t>
            </a:r>
            <a:r>
              <a:rPr lang="de-DE" baseline="0" dirty="0" err="1"/>
              <a:t>Logging</a:t>
            </a:r>
            <a:r>
              <a:rPr lang="de-DE" baseline="0" dirty="0"/>
              <a:t> resultiert daraus, dass keine Klaren Vorgaben gelten im </a:t>
            </a:r>
            <a:r>
              <a:rPr lang="de-DE" baseline="0" dirty="0" err="1"/>
              <a:t>Logging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Die Ziele für die Projektarbeit waren das erstellen von </a:t>
            </a:r>
            <a:r>
              <a:rPr lang="de-DE" baseline="0" dirty="0" err="1"/>
              <a:t>Logging</a:t>
            </a:r>
            <a:r>
              <a:rPr lang="de-DE" baseline="0" dirty="0"/>
              <a:t>-Richtlinien </a:t>
            </a:r>
          </a:p>
          <a:p>
            <a:r>
              <a:rPr lang="de-DE" baseline="0" dirty="0"/>
              <a:t>An die sich die Entwickler halten können </a:t>
            </a:r>
          </a:p>
          <a:p>
            <a:r>
              <a:rPr lang="de-DE" baseline="0" dirty="0"/>
              <a:t>Dadurch soll dann auch die Arbeit der Entwickler erleichtert werden</a:t>
            </a:r>
          </a:p>
          <a:p>
            <a:r>
              <a:rPr lang="de-DE" baseline="0" dirty="0"/>
              <a:t>Durch die Richtlinien soll das Bugtracking in Zukunft auch einfacher möglich sein </a:t>
            </a:r>
          </a:p>
          <a:p>
            <a:r>
              <a:rPr lang="de-DE" baseline="0" dirty="0"/>
              <a:t>Zum Schluss sollen dann noch Beispiele gezeigt werden, wie nicht geloggt werden soll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291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187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9282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Satellite</a:t>
            </a:r>
            <a:r>
              <a:rPr lang="de-DE" dirty="0"/>
              <a:t> erwähnen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9705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8379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90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0310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665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4778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013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171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363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393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9042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8513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580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126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353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65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Upgrade von Open-Source auf Basic nicht möglich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059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179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069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02473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652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98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0" y="4967528"/>
            <a:ext cx="655671" cy="159482"/>
          </a:xfrm>
          <a:prstGeom prst="rect">
            <a:avLst/>
          </a:prstGeo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Seite </a:t>
            </a:r>
            <a:fld id="{46232645-6AAF-4E23-B5F0-807530D9891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F5D968-D8B9-4D67-814D-D52175C91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15738282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531"/>
            <a:ext cx="9150350" cy="509032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0" y="4967528"/>
            <a:ext cx="655671" cy="159482"/>
          </a:xfrm>
          <a:prstGeom prst="rect">
            <a:avLst/>
          </a:prstGeo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Seite </a:t>
            </a:r>
            <a:fld id="{46232645-6AAF-4E23-B5F0-807530D9891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4CABDEC9-BD27-4E79-86BA-7028BE085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169291411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531"/>
            <a:ext cx="9150350" cy="509032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0" y="4967528"/>
            <a:ext cx="655671" cy="159482"/>
          </a:xfrm>
          <a:prstGeom prst="rect">
            <a:avLst/>
          </a:prstGeo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Seite </a:t>
            </a:r>
            <a:fld id="{46232645-6AAF-4E23-B5F0-807530D989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23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ransition spd="slow">
    <p:wipe/>
  </p:transition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</p:spPr>
        <p:txBody>
          <a:bodyPr/>
          <a:lstStyle/>
          <a:p>
            <a:r>
              <a:rPr lang="de-DE"/>
              <a:t>Bernd Hecker / 1.2.1 Le    Aufgaben und Organisation Ärztlicher/Psychotherapeutischer Körperschaften und Verbände - 28.06.2019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32645-6AAF-4E23-B5F0-807530D98911}" type="slidenum">
              <a:rPr lang="de-DE" smtClean="0"/>
              <a:t>1</a:t>
            </a:fld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" y="-7380"/>
            <a:ext cx="9156986" cy="514547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143508" y="3435846"/>
            <a:ext cx="68047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altLang="de-DE" sz="1800" b="1" dirty="0">
                <a:solidFill>
                  <a:srgbClr val="55A51C"/>
                </a:solidFill>
                <a:cs typeface="Arial" panose="020B0604020202020204" pitchFamily="34" charset="0"/>
              </a:rPr>
              <a:t>Umsetzung von </a:t>
            </a:r>
            <a:r>
              <a:rPr lang="de-DE" altLang="de-DE" sz="1800" b="1" dirty="0" err="1">
                <a:solidFill>
                  <a:srgbClr val="55A51C"/>
                </a:solidFill>
                <a:cs typeface="Arial" panose="020B0604020202020204" pitchFamily="34" charset="0"/>
              </a:rPr>
              <a:t>Logging</a:t>
            </a:r>
            <a:r>
              <a:rPr lang="de-DE" altLang="de-DE" sz="1800" b="1" dirty="0">
                <a:solidFill>
                  <a:srgbClr val="55A51C"/>
                </a:solidFill>
                <a:cs typeface="Arial" panose="020B0604020202020204" pitchFamily="34" charset="0"/>
              </a:rPr>
              <a:t>-Richtlinien und Einrichtung eines zentralisierten </a:t>
            </a:r>
            <a:r>
              <a:rPr lang="de-DE" altLang="de-DE" sz="1800" b="1" dirty="0" err="1">
                <a:solidFill>
                  <a:srgbClr val="55A51C"/>
                </a:solidFill>
                <a:cs typeface="Arial" panose="020B0604020202020204" pitchFamily="34" charset="0"/>
              </a:rPr>
              <a:t>Logging</a:t>
            </a:r>
            <a:r>
              <a:rPr lang="de-DE" altLang="de-DE" sz="1800" b="1" dirty="0">
                <a:solidFill>
                  <a:srgbClr val="55A51C"/>
                </a:solidFill>
                <a:cs typeface="Arial" panose="020B0604020202020204" pitchFamily="34" charset="0"/>
              </a:rPr>
              <a:t>-Servers für das CFT Portale der Kassenärztlichen Vereinigung Westfalen-Lippe</a:t>
            </a:r>
          </a:p>
        </p:txBody>
      </p:sp>
      <p:sp>
        <p:nvSpPr>
          <p:cNvPr id="8" name="Rechteck 7"/>
          <p:cNvSpPr/>
          <p:nvPr/>
        </p:nvSpPr>
        <p:spPr>
          <a:xfrm>
            <a:off x="143508" y="4473421"/>
            <a:ext cx="33483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altLang="de-DE" sz="1200" dirty="0">
                <a:solidFill>
                  <a:srgbClr val="8E969D"/>
                </a:solidFill>
                <a:cs typeface="Arial" panose="020B0604020202020204" pitchFamily="34" charset="0"/>
              </a:rPr>
              <a:t>Kevin Bollich</a:t>
            </a:r>
          </a:p>
        </p:txBody>
      </p:sp>
      <p:grpSp>
        <p:nvGrpSpPr>
          <p:cNvPr id="12" name="Group 267"/>
          <p:cNvGrpSpPr>
            <a:grpSpLocks noChangeAspect="1"/>
          </p:cNvGrpSpPr>
          <p:nvPr/>
        </p:nvGrpSpPr>
        <p:grpSpPr bwMode="auto">
          <a:xfrm>
            <a:off x="7030134" y="3543859"/>
            <a:ext cx="1956987" cy="324036"/>
            <a:chOff x="136" y="383"/>
            <a:chExt cx="3678" cy="609"/>
          </a:xfrm>
        </p:grpSpPr>
        <p:sp>
          <p:nvSpPr>
            <p:cNvPr id="13" name="AutoShape 266"/>
            <p:cNvSpPr>
              <a:spLocks noChangeAspect="1" noChangeArrowheads="1" noTextEdit="1"/>
            </p:cNvSpPr>
            <p:nvPr/>
          </p:nvSpPr>
          <p:spPr bwMode="auto">
            <a:xfrm>
              <a:off x="136" y="383"/>
              <a:ext cx="3678" cy="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4" name="Freeform 268"/>
            <p:cNvSpPr>
              <a:spLocks/>
            </p:cNvSpPr>
            <p:nvPr/>
          </p:nvSpPr>
          <p:spPr bwMode="auto">
            <a:xfrm>
              <a:off x="2529" y="837"/>
              <a:ext cx="132" cy="124"/>
            </a:xfrm>
            <a:custGeom>
              <a:avLst/>
              <a:gdLst>
                <a:gd name="T0" fmla="*/ 56 w 56"/>
                <a:gd name="T1" fmla="*/ 0 h 52"/>
                <a:gd name="T2" fmla="*/ 49 w 56"/>
                <a:gd name="T3" fmla="*/ 0 h 52"/>
                <a:gd name="T4" fmla="*/ 42 w 56"/>
                <a:gd name="T5" fmla="*/ 33 h 52"/>
                <a:gd name="T6" fmla="*/ 41 w 56"/>
                <a:gd name="T7" fmla="*/ 40 h 52"/>
                <a:gd name="T8" fmla="*/ 40 w 56"/>
                <a:gd name="T9" fmla="*/ 34 h 52"/>
                <a:gd name="T10" fmla="*/ 32 w 56"/>
                <a:gd name="T11" fmla="*/ 0 h 52"/>
                <a:gd name="T12" fmla="*/ 25 w 56"/>
                <a:gd name="T13" fmla="*/ 0 h 52"/>
                <a:gd name="T14" fmla="*/ 17 w 56"/>
                <a:gd name="T15" fmla="*/ 33 h 52"/>
                <a:gd name="T16" fmla="*/ 15 w 56"/>
                <a:gd name="T17" fmla="*/ 40 h 52"/>
                <a:gd name="T18" fmla="*/ 14 w 56"/>
                <a:gd name="T19" fmla="*/ 33 h 52"/>
                <a:gd name="T20" fmla="*/ 8 w 56"/>
                <a:gd name="T21" fmla="*/ 0 h 52"/>
                <a:gd name="T22" fmla="*/ 0 w 56"/>
                <a:gd name="T23" fmla="*/ 0 h 52"/>
                <a:gd name="T24" fmla="*/ 10 w 56"/>
                <a:gd name="T25" fmla="*/ 52 h 52"/>
                <a:gd name="T26" fmla="*/ 18 w 56"/>
                <a:gd name="T27" fmla="*/ 52 h 52"/>
                <a:gd name="T28" fmla="*/ 27 w 56"/>
                <a:gd name="T29" fmla="*/ 18 h 52"/>
                <a:gd name="T30" fmla="*/ 28 w 56"/>
                <a:gd name="T31" fmla="*/ 11 h 52"/>
                <a:gd name="T32" fmla="*/ 30 w 56"/>
                <a:gd name="T33" fmla="*/ 18 h 52"/>
                <a:gd name="T34" fmla="*/ 38 w 56"/>
                <a:gd name="T35" fmla="*/ 52 h 52"/>
                <a:gd name="T36" fmla="*/ 46 w 56"/>
                <a:gd name="T37" fmla="*/ 52 h 52"/>
                <a:gd name="T38" fmla="*/ 56 w 56"/>
                <a:gd name="T3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52">
                  <a:moveTo>
                    <a:pt x="56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5"/>
                    <a:pt x="42" y="38"/>
                    <a:pt x="41" y="40"/>
                  </a:cubicBezTo>
                  <a:cubicBezTo>
                    <a:pt x="41" y="38"/>
                    <a:pt x="41" y="35"/>
                    <a:pt x="40" y="3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6" y="34"/>
                    <a:pt x="15" y="38"/>
                    <a:pt x="15" y="40"/>
                  </a:cubicBezTo>
                  <a:cubicBezTo>
                    <a:pt x="15" y="38"/>
                    <a:pt x="14" y="34"/>
                    <a:pt x="14" y="3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6"/>
                    <a:pt x="28" y="13"/>
                    <a:pt x="28" y="11"/>
                  </a:cubicBezTo>
                  <a:cubicBezTo>
                    <a:pt x="28" y="13"/>
                    <a:pt x="29" y="16"/>
                    <a:pt x="30" y="18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46" y="52"/>
                    <a:pt x="46" y="52"/>
                    <a:pt x="46" y="52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5" name="Freeform 269"/>
            <p:cNvSpPr>
              <a:spLocks noEditPoints="1"/>
            </p:cNvSpPr>
            <p:nvPr/>
          </p:nvSpPr>
          <p:spPr bwMode="auto">
            <a:xfrm>
              <a:off x="2668" y="866"/>
              <a:ext cx="81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0 w 34"/>
                <a:gd name="T9" fmla="*/ 36 h 41"/>
                <a:gd name="T10" fmla="*/ 26 w 34"/>
                <a:gd name="T11" fmla="*/ 31 h 41"/>
                <a:gd name="T12" fmla="*/ 17 w 34"/>
                <a:gd name="T13" fmla="*/ 34 h 41"/>
                <a:gd name="T14" fmla="*/ 8 w 34"/>
                <a:gd name="T15" fmla="*/ 23 h 41"/>
                <a:gd name="T16" fmla="*/ 33 w 34"/>
                <a:gd name="T17" fmla="*/ 23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0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3"/>
                    <a:pt x="21" y="34"/>
                    <a:pt x="17" y="34"/>
                  </a:cubicBezTo>
                  <a:cubicBezTo>
                    <a:pt x="13" y="34"/>
                    <a:pt x="8" y="31"/>
                    <a:pt x="8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6" name="Freeform 270"/>
            <p:cNvSpPr>
              <a:spLocks/>
            </p:cNvSpPr>
            <p:nvPr/>
          </p:nvSpPr>
          <p:spPr bwMode="auto">
            <a:xfrm>
              <a:off x="2763" y="866"/>
              <a:ext cx="71" cy="98"/>
            </a:xfrm>
            <a:custGeom>
              <a:avLst/>
              <a:gdLst>
                <a:gd name="T0" fmla="*/ 30 w 30"/>
                <a:gd name="T1" fmla="*/ 29 h 41"/>
                <a:gd name="T2" fmla="*/ 17 w 30"/>
                <a:gd name="T3" fmla="*/ 16 h 41"/>
                <a:gd name="T4" fmla="*/ 9 w 30"/>
                <a:gd name="T5" fmla="*/ 10 h 41"/>
                <a:gd name="T6" fmla="*/ 15 w 30"/>
                <a:gd name="T7" fmla="*/ 7 h 41"/>
                <a:gd name="T8" fmla="*/ 25 w 30"/>
                <a:gd name="T9" fmla="*/ 10 h 41"/>
                <a:gd name="T10" fmla="*/ 28 w 30"/>
                <a:gd name="T11" fmla="*/ 4 h 41"/>
                <a:gd name="T12" fmla="*/ 15 w 30"/>
                <a:gd name="T13" fmla="*/ 0 h 41"/>
                <a:gd name="T14" fmla="*/ 2 w 30"/>
                <a:gd name="T15" fmla="*/ 11 h 41"/>
                <a:gd name="T16" fmla="*/ 13 w 30"/>
                <a:gd name="T17" fmla="*/ 23 h 41"/>
                <a:gd name="T18" fmla="*/ 22 w 30"/>
                <a:gd name="T19" fmla="*/ 30 h 41"/>
                <a:gd name="T20" fmla="*/ 15 w 30"/>
                <a:gd name="T21" fmla="*/ 34 h 41"/>
                <a:gd name="T22" fmla="*/ 4 w 30"/>
                <a:gd name="T23" fmla="*/ 30 h 41"/>
                <a:gd name="T24" fmla="*/ 0 w 30"/>
                <a:gd name="T25" fmla="*/ 36 h 41"/>
                <a:gd name="T26" fmla="*/ 15 w 30"/>
                <a:gd name="T27" fmla="*/ 41 h 41"/>
                <a:gd name="T28" fmla="*/ 30 w 30"/>
                <a:gd name="T2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41">
                  <a:moveTo>
                    <a:pt x="30" y="29"/>
                  </a:moveTo>
                  <a:cubicBezTo>
                    <a:pt x="30" y="22"/>
                    <a:pt x="25" y="19"/>
                    <a:pt x="17" y="16"/>
                  </a:cubicBezTo>
                  <a:cubicBezTo>
                    <a:pt x="11" y="14"/>
                    <a:pt x="9" y="12"/>
                    <a:pt x="9" y="10"/>
                  </a:cubicBezTo>
                  <a:cubicBezTo>
                    <a:pt x="9" y="8"/>
                    <a:pt x="11" y="7"/>
                    <a:pt x="15" y="7"/>
                  </a:cubicBezTo>
                  <a:cubicBezTo>
                    <a:pt x="18" y="7"/>
                    <a:pt x="22" y="8"/>
                    <a:pt x="25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2"/>
                    <a:pt x="20" y="0"/>
                    <a:pt x="15" y="0"/>
                  </a:cubicBezTo>
                  <a:cubicBezTo>
                    <a:pt x="7" y="0"/>
                    <a:pt x="2" y="4"/>
                    <a:pt x="2" y="11"/>
                  </a:cubicBezTo>
                  <a:cubicBezTo>
                    <a:pt x="2" y="17"/>
                    <a:pt x="5" y="20"/>
                    <a:pt x="13" y="23"/>
                  </a:cubicBezTo>
                  <a:cubicBezTo>
                    <a:pt x="19" y="25"/>
                    <a:pt x="22" y="27"/>
                    <a:pt x="22" y="30"/>
                  </a:cubicBezTo>
                  <a:cubicBezTo>
                    <a:pt x="22" y="32"/>
                    <a:pt x="20" y="34"/>
                    <a:pt x="15" y="34"/>
                  </a:cubicBezTo>
                  <a:cubicBezTo>
                    <a:pt x="11" y="34"/>
                    <a:pt x="7" y="33"/>
                    <a:pt x="4" y="3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9"/>
                    <a:pt x="10" y="41"/>
                    <a:pt x="15" y="41"/>
                  </a:cubicBezTo>
                  <a:cubicBezTo>
                    <a:pt x="23" y="41"/>
                    <a:pt x="30" y="38"/>
                    <a:pt x="30" y="29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7" name="Freeform 271"/>
            <p:cNvSpPr>
              <a:spLocks/>
            </p:cNvSpPr>
            <p:nvPr/>
          </p:nvSpPr>
          <p:spPr bwMode="auto">
            <a:xfrm>
              <a:off x="2848" y="832"/>
              <a:ext cx="52" cy="132"/>
            </a:xfrm>
            <a:custGeom>
              <a:avLst/>
              <a:gdLst>
                <a:gd name="T0" fmla="*/ 22 w 22"/>
                <a:gd name="T1" fmla="*/ 46 h 55"/>
                <a:gd name="T2" fmla="*/ 17 w 22"/>
                <a:gd name="T3" fmla="*/ 48 h 55"/>
                <a:gd name="T4" fmla="*/ 13 w 22"/>
                <a:gd name="T5" fmla="*/ 43 h 55"/>
                <a:gd name="T6" fmla="*/ 13 w 22"/>
                <a:gd name="T7" fmla="*/ 22 h 55"/>
                <a:gd name="T8" fmla="*/ 22 w 22"/>
                <a:gd name="T9" fmla="*/ 22 h 55"/>
                <a:gd name="T10" fmla="*/ 22 w 22"/>
                <a:gd name="T11" fmla="*/ 15 h 55"/>
                <a:gd name="T12" fmla="*/ 13 w 22"/>
                <a:gd name="T13" fmla="*/ 15 h 55"/>
                <a:gd name="T14" fmla="*/ 13 w 22"/>
                <a:gd name="T15" fmla="*/ 0 h 55"/>
                <a:gd name="T16" fmla="*/ 5 w 22"/>
                <a:gd name="T17" fmla="*/ 4 h 55"/>
                <a:gd name="T18" fmla="*/ 5 w 22"/>
                <a:gd name="T19" fmla="*/ 15 h 55"/>
                <a:gd name="T20" fmla="*/ 0 w 22"/>
                <a:gd name="T21" fmla="*/ 15 h 55"/>
                <a:gd name="T22" fmla="*/ 0 w 22"/>
                <a:gd name="T23" fmla="*/ 22 h 55"/>
                <a:gd name="T24" fmla="*/ 5 w 22"/>
                <a:gd name="T25" fmla="*/ 22 h 55"/>
                <a:gd name="T26" fmla="*/ 5 w 22"/>
                <a:gd name="T27" fmla="*/ 44 h 55"/>
                <a:gd name="T28" fmla="*/ 14 w 22"/>
                <a:gd name="T29" fmla="*/ 55 h 55"/>
                <a:gd name="T30" fmla="*/ 22 w 22"/>
                <a:gd name="T31" fmla="*/ 53 h 55"/>
                <a:gd name="T32" fmla="*/ 22 w 22"/>
                <a:gd name="T33" fmla="*/ 4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55">
                  <a:moveTo>
                    <a:pt x="22" y="46"/>
                  </a:moveTo>
                  <a:cubicBezTo>
                    <a:pt x="21" y="47"/>
                    <a:pt x="19" y="48"/>
                    <a:pt x="17" y="48"/>
                  </a:cubicBezTo>
                  <a:cubicBezTo>
                    <a:pt x="14" y="48"/>
                    <a:pt x="13" y="47"/>
                    <a:pt x="13" y="4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51"/>
                    <a:pt x="9" y="55"/>
                    <a:pt x="14" y="55"/>
                  </a:cubicBezTo>
                  <a:cubicBezTo>
                    <a:pt x="17" y="55"/>
                    <a:pt x="20" y="54"/>
                    <a:pt x="22" y="53"/>
                  </a:cubicBezTo>
                  <a:lnTo>
                    <a:pt x="22" y="46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8" name="Freeform 272"/>
            <p:cNvSpPr>
              <a:spLocks/>
            </p:cNvSpPr>
            <p:nvPr/>
          </p:nvSpPr>
          <p:spPr bwMode="auto">
            <a:xfrm>
              <a:off x="2917" y="832"/>
              <a:ext cx="47" cy="129"/>
            </a:xfrm>
            <a:custGeom>
              <a:avLst/>
              <a:gdLst>
                <a:gd name="T0" fmla="*/ 20 w 20"/>
                <a:gd name="T1" fmla="*/ 7 h 54"/>
                <a:gd name="T2" fmla="*/ 20 w 20"/>
                <a:gd name="T3" fmla="*/ 1 h 54"/>
                <a:gd name="T4" fmla="*/ 15 w 20"/>
                <a:gd name="T5" fmla="*/ 0 h 54"/>
                <a:gd name="T6" fmla="*/ 5 w 20"/>
                <a:gd name="T7" fmla="*/ 10 h 54"/>
                <a:gd name="T8" fmla="*/ 5 w 20"/>
                <a:gd name="T9" fmla="*/ 15 h 54"/>
                <a:gd name="T10" fmla="*/ 0 w 20"/>
                <a:gd name="T11" fmla="*/ 15 h 54"/>
                <a:gd name="T12" fmla="*/ 0 w 20"/>
                <a:gd name="T13" fmla="*/ 22 h 54"/>
                <a:gd name="T14" fmla="*/ 5 w 20"/>
                <a:gd name="T15" fmla="*/ 22 h 54"/>
                <a:gd name="T16" fmla="*/ 5 w 20"/>
                <a:gd name="T17" fmla="*/ 54 h 54"/>
                <a:gd name="T18" fmla="*/ 12 w 20"/>
                <a:gd name="T19" fmla="*/ 54 h 54"/>
                <a:gd name="T20" fmla="*/ 12 w 20"/>
                <a:gd name="T21" fmla="*/ 22 h 54"/>
                <a:gd name="T22" fmla="*/ 20 w 20"/>
                <a:gd name="T23" fmla="*/ 22 h 54"/>
                <a:gd name="T24" fmla="*/ 20 w 20"/>
                <a:gd name="T25" fmla="*/ 15 h 54"/>
                <a:gd name="T26" fmla="*/ 12 w 20"/>
                <a:gd name="T27" fmla="*/ 15 h 54"/>
                <a:gd name="T28" fmla="*/ 12 w 20"/>
                <a:gd name="T29" fmla="*/ 10 h 54"/>
                <a:gd name="T30" fmla="*/ 16 w 20"/>
                <a:gd name="T31" fmla="*/ 7 h 54"/>
                <a:gd name="T32" fmla="*/ 20 w 20"/>
                <a:gd name="T33" fmla="*/ 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54">
                  <a:moveTo>
                    <a:pt x="20" y="7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9" y="0"/>
                    <a:pt x="17" y="0"/>
                    <a:pt x="15" y="0"/>
                  </a:cubicBezTo>
                  <a:cubicBezTo>
                    <a:pt x="9" y="0"/>
                    <a:pt x="5" y="3"/>
                    <a:pt x="5" y="10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8"/>
                    <a:pt x="13" y="7"/>
                    <a:pt x="16" y="7"/>
                  </a:cubicBezTo>
                  <a:cubicBezTo>
                    <a:pt x="17" y="7"/>
                    <a:pt x="19" y="7"/>
                    <a:pt x="20" y="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9" name="Freeform 273"/>
            <p:cNvSpPr>
              <a:spLocks noEditPoints="1"/>
            </p:cNvSpPr>
            <p:nvPr/>
          </p:nvSpPr>
          <p:spPr bwMode="auto">
            <a:xfrm>
              <a:off x="2976" y="866"/>
              <a:ext cx="73" cy="98"/>
            </a:xfrm>
            <a:custGeom>
              <a:avLst/>
              <a:gdLst>
                <a:gd name="T0" fmla="*/ 31 w 31"/>
                <a:gd name="T1" fmla="*/ 40 h 41"/>
                <a:gd name="T2" fmla="*/ 31 w 31"/>
                <a:gd name="T3" fmla="*/ 13 h 41"/>
                <a:gd name="T4" fmla="*/ 17 w 31"/>
                <a:gd name="T5" fmla="*/ 0 h 41"/>
                <a:gd name="T6" fmla="*/ 3 w 31"/>
                <a:gd name="T7" fmla="*/ 4 h 41"/>
                <a:gd name="T8" fmla="*/ 6 w 31"/>
                <a:gd name="T9" fmla="*/ 9 h 41"/>
                <a:gd name="T10" fmla="*/ 16 w 31"/>
                <a:gd name="T11" fmla="*/ 7 h 41"/>
                <a:gd name="T12" fmla="*/ 24 w 31"/>
                <a:gd name="T13" fmla="*/ 14 h 41"/>
                <a:gd name="T14" fmla="*/ 24 w 31"/>
                <a:gd name="T15" fmla="*/ 16 h 41"/>
                <a:gd name="T16" fmla="*/ 15 w 31"/>
                <a:gd name="T17" fmla="*/ 15 h 41"/>
                <a:gd name="T18" fmla="*/ 0 w 31"/>
                <a:gd name="T19" fmla="*/ 28 h 41"/>
                <a:gd name="T20" fmla="*/ 13 w 31"/>
                <a:gd name="T21" fmla="*/ 41 h 41"/>
                <a:gd name="T22" fmla="*/ 24 w 31"/>
                <a:gd name="T23" fmla="*/ 36 h 41"/>
                <a:gd name="T24" fmla="*/ 24 w 31"/>
                <a:gd name="T25" fmla="*/ 40 h 41"/>
                <a:gd name="T26" fmla="*/ 31 w 31"/>
                <a:gd name="T27" fmla="*/ 40 h 41"/>
                <a:gd name="T28" fmla="*/ 24 w 31"/>
                <a:gd name="T29" fmla="*/ 29 h 41"/>
                <a:gd name="T30" fmla="*/ 14 w 31"/>
                <a:gd name="T31" fmla="*/ 34 h 41"/>
                <a:gd name="T32" fmla="*/ 7 w 31"/>
                <a:gd name="T33" fmla="*/ 27 h 41"/>
                <a:gd name="T34" fmla="*/ 15 w 31"/>
                <a:gd name="T35" fmla="*/ 22 h 41"/>
                <a:gd name="T36" fmla="*/ 24 w 31"/>
                <a:gd name="T37" fmla="*/ 23 h 41"/>
                <a:gd name="T38" fmla="*/ 24 w 31"/>
                <a:gd name="T3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41">
                  <a:moveTo>
                    <a:pt x="31" y="40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4"/>
                    <a:pt x="25" y="0"/>
                    <a:pt x="17" y="0"/>
                  </a:cubicBezTo>
                  <a:cubicBezTo>
                    <a:pt x="11" y="0"/>
                    <a:pt x="7" y="1"/>
                    <a:pt x="3" y="4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9" y="8"/>
                    <a:pt x="12" y="7"/>
                    <a:pt x="16" y="7"/>
                  </a:cubicBezTo>
                  <a:cubicBezTo>
                    <a:pt x="21" y="7"/>
                    <a:pt x="24" y="9"/>
                    <a:pt x="24" y="14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5"/>
                    <a:pt x="19" y="15"/>
                    <a:pt x="15" y="15"/>
                  </a:cubicBezTo>
                  <a:cubicBezTo>
                    <a:pt x="6" y="15"/>
                    <a:pt x="0" y="19"/>
                    <a:pt x="0" y="28"/>
                  </a:cubicBezTo>
                  <a:cubicBezTo>
                    <a:pt x="0" y="37"/>
                    <a:pt x="7" y="41"/>
                    <a:pt x="13" y="41"/>
                  </a:cubicBezTo>
                  <a:cubicBezTo>
                    <a:pt x="17" y="41"/>
                    <a:pt x="21" y="39"/>
                    <a:pt x="24" y="36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1" y="40"/>
                  </a:lnTo>
                  <a:close/>
                  <a:moveTo>
                    <a:pt x="24" y="29"/>
                  </a:moveTo>
                  <a:cubicBezTo>
                    <a:pt x="22" y="31"/>
                    <a:pt x="18" y="34"/>
                    <a:pt x="14" y="34"/>
                  </a:cubicBezTo>
                  <a:cubicBezTo>
                    <a:pt x="9" y="34"/>
                    <a:pt x="7" y="31"/>
                    <a:pt x="7" y="27"/>
                  </a:cubicBezTo>
                  <a:cubicBezTo>
                    <a:pt x="7" y="24"/>
                    <a:pt x="10" y="22"/>
                    <a:pt x="15" y="22"/>
                  </a:cubicBezTo>
                  <a:cubicBezTo>
                    <a:pt x="19" y="22"/>
                    <a:pt x="22" y="22"/>
                    <a:pt x="24" y="23"/>
                  </a:cubicBezTo>
                  <a:lnTo>
                    <a:pt x="24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0" name="Freeform 274"/>
            <p:cNvSpPr>
              <a:spLocks/>
            </p:cNvSpPr>
            <p:nvPr/>
          </p:nvSpPr>
          <p:spPr bwMode="auto">
            <a:xfrm>
              <a:off x="3078" y="832"/>
              <a:ext cx="16" cy="129"/>
            </a:xfrm>
            <a:custGeom>
              <a:avLst/>
              <a:gdLst>
                <a:gd name="T0" fmla="*/ 16 w 16"/>
                <a:gd name="T1" fmla="*/ 129 h 129"/>
                <a:gd name="T2" fmla="*/ 16 w 16"/>
                <a:gd name="T3" fmla="*/ 0 h 129"/>
                <a:gd name="T4" fmla="*/ 0 w 16"/>
                <a:gd name="T5" fmla="*/ 10 h 129"/>
                <a:gd name="T6" fmla="*/ 0 w 16"/>
                <a:gd name="T7" fmla="*/ 129 h 129"/>
                <a:gd name="T8" fmla="*/ 16 w 16"/>
                <a:gd name="T9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29">
                  <a:moveTo>
                    <a:pt x="16" y="129"/>
                  </a:moveTo>
                  <a:lnTo>
                    <a:pt x="16" y="0"/>
                  </a:lnTo>
                  <a:lnTo>
                    <a:pt x="0" y="10"/>
                  </a:lnTo>
                  <a:lnTo>
                    <a:pt x="0" y="129"/>
                  </a:lnTo>
                  <a:lnTo>
                    <a:pt x="16" y="1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1" name="Freeform 275"/>
            <p:cNvSpPr>
              <a:spLocks noEditPoints="1"/>
            </p:cNvSpPr>
            <p:nvPr/>
          </p:nvSpPr>
          <p:spPr bwMode="auto">
            <a:xfrm>
              <a:off x="3118" y="866"/>
              <a:ext cx="81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1 w 34"/>
                <a:gd name="T9" fmla="*/ 36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3 h 41"/>
                <a:gd name="T16" fmla="*/ 34 w 34"/>
                <a:gd name="T17" fmla="*/ 23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9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1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4" y="33"/>
                    <a:pt x="21" y="34"/>
                    <a:pt x="18" y="34"/>
                  </a:cubicBezTo>
                  <a:cubicBezTo>
                    <a:pt x="13" y="34"/>
                    <a:pt x="9" y="31"/>
                    <a:pt x="8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2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1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2" name="Freeform 276"/>
            <p:cNvSpPr>
              <a:spLocks/>
            </p:cNvSpPr>
            <p:nvPr/>
          </p:nvSpPr>
          <p:spPr bwMode="auto">
            <a:xfrm>
              <a:off x="3220" y="866"/>
              <a:ext cx="76" cy="95"/>
            </a:xfrm>
            <a:custGeom>
              <a:avLst/>
              <a:gdLst>
                <a:gd name="T0" fmla="*/ 32 w 32"/>
                <a:gd name="T1" fmla="*/ 40 h 40"/>
                <a:gd name="T2" fmla="*/ 32 w 32"/>
                <a:gd name="T3" fmla="*/ 18 h 40"/>
                <a:gd name="T4" fmla="*/ 18 w 32"/>
                <a:gd name="T5" fmla="*/ 0 h 40"/>
                <a:gd name="T6" fmla="*/ 8 w 32"/>
                <a:gd name="T7" fmla="*/ 5 h 40"/>
                <a:gd name="T8" fmla="*/ 8 w 32"/>
                <a:gd name="T9" fmla="*/ 1 h 40"/>
                <a:gd name="T10" fmla="*/ 0 w 32"/>
                <a:gd name="T11" fmla="*/ 1 h 40"/>
                <a:gd name="T12" fmla="*/ 0 w 32"/>
                <a:gd name="T13" fmla="*/ 40 h 40"/>
                <a:gd name="T14" fmla="*/ 8 w 32"/>
                <a:gd name="T15" fmla="*/ 40 h 40"/>
                <a:gd name="T16" fmla="*/ 8 w 32"/>
                <a:gd name="T17" fmla="*/ 17 h 40"/>
                <a:gd name="T18" fmla="*/ 16 w 32"/>
                <a:gd name="T19" fmla="*/ 7 h 40"/>
                <a:gd name="T20" fmla="*/ 24 w 32"/>
                <a:gd name="T21" fmla="*/ 18 h 40"/>
                <a:gd name="T22" fmla="*/ 24 w 32"/>
                <a:gd name="T23" fmla="*/ 40 h 40"/>
                <a:gd name="T24" fmla="*/ 32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32" y="40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27" y="0"/>
                    <a:pt x="18" y="0"/>
                  </a:cubicBezTo>
                  <a:cubicBezTo>
                    <a:pt x="14" y="0"/>
                    <a:pt x="10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1" y="7"/>
                    <a:pt x="16" y="7"/>
                  </a:cubicBezTo>
                  <a:cubicBezTo>
                    <a:pt x="21" y="7"/>
                    <a:pt x="24" y="10"/>
                    <a:pt x="24" y="18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2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3" name="Rectangle 277"/>
            <p:cNvSpPr>
              <a:spLocks noChangeArrowheads="1"/>
            </p:cNvSpPr>
            <p:nvPr/>
          </p:nvSpPr>
          <p:spPr bwMode="auto">
            <a:xfrm>
              <a:off x="3317" y="887"/>
              <a:ext cx="45" cy="17"/>
            </a:xfrm>
            <a:prstGeom prst="rect">
              <a:avLst/>
            </a:pr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4" name="Freeform 278"/>
            <p:cNvSpPr>
              <a:spLocks/>
            </p:cNvSpPr>
            <p:nvPr/>
          </p:nvSpPr>
          <p:spPr bwMode="auto">
            <a:xfrm>
              <a:off x="3388" y="837"/>
              <a:ext cx="80" cy="124"/>
            </a:xfrm>
            <a:custGeom>
              <a:avLst/>
              <a:gdLst>
                <a:gd name="T0" fmla="*/ 80 w 80"/>
                <a:gd name="T1" fmla="*/ 124 h 124"/>
                <a:gd name="T2" fmla="*/ 80 w 80"/>
                <a:gd name="T3" fmla="*/ 105 h 124"/>
                <a:gd name="T4" fmla="*/ 19 w 80"/>
                <a:gd name="T5" fmla="*/ 105 h 124"/>
                <a:gd name="T6" fmla="*/ 19 w 80"/>
                <a:gd name="T7" fmla="*/ 0 h 124"/>
                <a:gd name="T8" fmla="*/ 0 w 80"/>
                <a:gd name="T9" fmla="*/ 0 h 124"/>
                <a:gd name="T10" fmla="*/ 0 w 80"/>
                <a:gd name="T11" fmla="*/ 124 h 124"/>
                <a:gd name="T12" fmla="*/ 80 w 80"/>
                <a:gd name="T13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24">
                  <a:moveTo>
                    <a:pt x="80" y="124"/>
                  </a:moveTo>
                  <a:lnTo>
                    <a:pt x="80" y="105"/>
                  </a:lnTo>
                  <a:lnTo>
                    <a:pt x="19" y="105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80" y="12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5" name="Freeform 279"/>
            <p:cNvSpPr>
              <a:spLocks noEditPoints="1"/>
            </p:cNvSpPr>
            <p:nvPr/>
          </p:nvSpPr>
          <p:spPr bwMode="auto">
            <a:xfrm>
              <a:off x="3487" y="832"/>
              <a:ext cx="24" cy="129"/>
            </a:xfrm>
            <a:custGeom>
              <a:avLst/>
              <a:gdLst>
                <a:gd name="T0" fmla="*/ 10 w 10"/>
                <a:gd name="T1" fmla="*/ 5 h 54"/>
                <a:gd name="T2" fmla="*/ 5 w 10"/>
                <a:gd name="T3" fmla="*/ 0 h 54"/>
                <a:gd name="T4" fmla="*/ 0 w 10"/>
                <a:gd name="T5" fmla="*/ 5 h 54"/>
                <a:gd name="T6" fmla="*/ 5 w 10"/>
                <a:gd name="T7" fmla="*/ 10 h 54"/>
                <a:gd name="T8" fmla="*/ 10 w 10"/>
                <a:gd name="T9" fmla="*/ 5 h 54"/>
                <a:gd name="T10" fmla="*/ 9 w 10"/>
                <a:gd name="T11" fmla="*/ 54 h 54"/>
                <a:gd name="T12" fmla="*/ 9 w 10"/>
                <a:gd name="T13" fmla="*/ 15 h 54"/>
                <a:gd name="T14" fmla="*/ 1 w 10"/>
                <a:gd name="T15" fmla="*/ 15 h 54"/>
                <a:gd name="T16" fmla="*/ 1 w 10"/>
                <a:gd name="T17" fmla="*/ 54 h 54"/>
                <a:gd name="T18" fmla="*/ 9 w 10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4">
                  <a:moveTo>
                    <a:pt x="10" y="5"/>
                  </a:move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0"/>
                    <a:pt x="5" y="10"/>
                  </a:cubicBezTo>
                  <a:cubicBezTo>
                    <a:pt x="8" y="10"/>
                    <a:pt x="10" y="8"/>
                    <a:pt x="10" y="5"/>
                  </a:cubicBezTo>
                  <a:close/>
                  <a:moveTo>
                    <a:pt x="9" y="5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9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6" name="Freeform 280"/>
            <p:cNvSpPr>
              <a:spLocks noEditPoints="1"/>
            </p:cNvSpPr>
            <p:nvPr/>
          </p:nvSpPr>
          <p:spPr bwMode="auto">
            <a:xfrm>
              <a:off x="3537" y="866"/>
              <a:ext cx="78" cy="129"/>
            </a:xfrm>
            <a:custGeom>
              <a:avLst/>
              <a:gdLst>
                <a:gd name="T0" fmla="*/ 33 w 33"/>
                <a:gd name="T1" fmla="*/ 21 h 54"/>
                <a:gd name="T2" fmla="*/ 18 w 33"/>
                <a:gd name="T3" fmla="*/ 0 h 54"/>
                <a:gd name="T4" fmla="*/ 7 w 33"/>
                <a:gd name="T5" fmla="*/ 5 h 54"/>
                <a:gd name="T6" fmla="*/ 7 w 33"/>
                <a:gd name="T7" fmla="*/ 1 h 54"/>
                <a:gd name="T8" fmla="*/ 0 w 33"/>
                <a:gd name="T9" fmla="*/ 1 h 54"/>
                <a:gd name="T10" fmla="*/ 0 w 33"/>
                <a:gd name="T11" fmla="*/ 54 h 54"/>
                <a:gd name="T12" fmla="*/ 7 w 33"/>
                <a:gd name="T13" fmla="*/ 50 h 54"/>
                <a:gd name="T14" fmla="*/ 7 w 33"/>
                <a:gd name="T15" fmla="*/ 36 h 54"/>
                <a:gd name="T16" fmla="*/ 17 w 33"/>
                <a:gd name="T17" fmla="*/ 41 h 54"/>
                <a:gd name="T18" fmla="*/ 33 w 33"/>
                <a:gd name="T19" fmla="*/ 21 h 54"/>
                <a:gd name="T20" fmla="*/ 25 w 33"/>
                <a:gd name="T21" fmla="*/ 21 h 54"/>
                <a:gd name="T22" fmla="*/ 17 w 33"/>
                <a:gd name="T23" fmla="*/ 34 h 54"/>
                <a:gd name="T24" fmla="*/ 7 w 33"/>
                <a:gd name="T25" fmla="*/ 29 h 54"/>
                <a:gd name="T26" fmla="*/ 7 w 33"/>
                <a:gd name="T27" fmla="*/ 12 h 54"/>
                <a:gd name="T28" fmla="*/ 16 w 33"/>
                <a:gd name="T29" fmla="*/ 7 h 54"/>
                <a:gd name="T30" fmla="*/ 25 w 33"/>
                <a:gd name="T31" fmla="*/ 2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4">
                  <a:moveTo>
                    <a:pt x="33" y="21"/>
                  </a:moveTo>
                  <a:cubicBezTo>
                    <a:pt x="33" y="6"/>
                    <a:pt x="26" y="0"/>
                    <a:pt x="18" y="0"/>
                  </a:cubicBezTo>
                  <a:cubicBezTo>
                    <a:pt x="14" y="0"/>
                    <a:pt x="10" y="2"/>
                    <a:pt x="7" y="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0" y="39"/>
                    <a:pt x="13" y="41"/>
                    <a:pt x="17" y="41"/>
                  </a:cubicBezTo>
                  <a:cubicBezTo>
                    <a:pt x="25" y="41"/>
                    <a:pt x="33" y="34"/>
                    <a:pt x="33" y="21"/>
                  </a:cubicBezTo>
                  <a:close/>
                  <a:moveTo>
                    <a:pt x="25" y="21"/>
                  </a:moveTo>
                  <a:cubicBezTo>
                    <a:pt x="25" y="30"/>
                    <a:pt x="22" y="34"/>
                    <a:pt x="17" y="34"/>
                  </a:cubicBezTo>
                  <a:cubicBezTo>
                    <a:pt x="13" y="34"/>
                    <a:pt x="9" y="31"/>
                    <a:pt x="7" y="29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0"/>
                    <a:pt x="13" y="7"/>
                    <a:pt x="16" y="7"/>
                  </a:cubicBezTo>
                  <a:cubicBezTo>
                    <a:pt x="22" y="7"/>
                    <a:pt x="25" y="11"/>
                    <a:pt x="25" y="21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7" name="Freeform 281"/>
            <p:cNvSpPr>
              <a:spLocks noEditPoints="1"/>
            </p:cNvSpPr>
            <p:nvPr/>
          </p:nvSpPr>
          <p:spPr bwMode="auto">
            <a:xfrm>
              <a:off x="3636" y="866"/>
              <a:ext cx="79" cy="129"/>
            </a:xfrm>
            <a:custGeom>
              <a:avLst/>
              <a:gdLst>
                <a:gd name="T0" fmla="*/ 33 w 33"/>
                <a:gd name="T1" fmla="*/ 21 h 54"/>
                <a:gd name="T2" fmla="*/ 18 w 33"/>
                <a:gd name="T3" fmla="*/ 0 h 54"/>
                <a:gd name="T4" fmla="*/ 8 w 33"/>
                <a:gd name="T5" fmla="*/ 5 h 54"/>
                <a:gd name="T6" fmla="*/ 8 w 33"/>
                <a:gd name="T7" fmla="*/ 1 h 54"/>
                <a:gd name="T8" fmla="*/ 0 w 33"/>
                <a:gd name="T9" fmla="*/ 1 h 54"/>
                <a:gd name="T10" fmla="*/ 0 w 33"/>
                <a:gd name="T11" fmla="*/ 54 h 54"/>
                <a:gd name="T12" fmla="*/ 8 w 33"/>
                <a:gd name="T13" fmla="*/ 50 h 54"/>
                <a:gd name="T14" fmla="*/ 8 w 33"/>
                <a:gd name="T15" fmla="*/ 36 h 54"/>
                <a:gd name="T16" fmla="*/ 18 w 33"/>
                <a:gd name="T17" fmla="*/ 41 h 54"/>
                <a:gd name="T18" fmla="*/ 33 w 33"/>
                <a:gd name="T19" fmla="*/ 21 h 54"/>
                <a:gd name="T20" fmla="*/ 25 w 33"/>
                <a:gd name="T21" fmla="*/ 21 h 54"/>
                <a:gd name="T22" fmla="*/ 17 w 33"/>
                <a:gd name="T23" fmla="*/ 34 h 54"/>
                <a:gd name="T24" fmla="*/ 8 w 33"/>
                <a:gd name="T25" fmla="*/ 29 h 54"/>
                <a:gd name="T26" fmla="*/ 8 w 33"/>
                <a:gd name="T27" fmla="*/ 12 h 54"/>
                <a:gd name="T28" fmla="*/ 17 w 33"/>
                <a:gd name="T29" fmla="*/ 7 h 54"/>
                <a:gd name="T30" fmla="*/ 25 w 33"/>
                <a:gd name="T31" fmla="*/ 2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4">
                  <a:moveTo>
                    <a:pt x="33" y="21"/>
                  </a:moveTo>
                  <a:cubicBezTo>
                    <a:pt x="33" y="6"/>
                    <a:pt x="27" y="0"/>
                    <a:pt x="18" y="0"/>
                  </a:cubicBezTo>
                  <a:cubicBezTo>
                    <a:pt x="14" y="0"/>
                    <a:pt x="11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39"/>
                    <a:pt x="14" y="41"/>
                    <a:pt x="18" y="41"/>
                  </a:cubicBezTo>
                  <a:cubicBezTo>
                    <a:pt x="26" y="41"/>
                    <a:pt x="33" y="34"/>
                    <a:pt x="33" y="21"/>
                  </a:cubicBezTo>
                  <a:close/>
                  <a:moveTo>
                    <a:pt x="25" y="21"/>
                  </a:moveTo>
                  <a:cubicBezTo>
                    <a:pt x="25" y="30"/>
                    <a:pt x="23" y="34"/>
                    <a:pt x="17" y="34"/>
                  </a:cubicBezTo>
                  <a:cubicBezTo>
                    <a:pt x="13" y="34"/>
                    <a:pt x="10" y="31"/>
                    <a:pt x="8" y="29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0" y="10"/>
                    <a:pt x="13" y="7"/>
                    <a:pt x="17" y="7"/>
                  </a:cubicBezTo>
                  <a:cubicBezTo>
                    <a:pt x="22" y="7"/>
                    <a:pt x="25" y="11"/>
                    <a:pt x="25" y="21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8" name="Freeform 282"/>
            <p:cNvSpPr>
              <a:spLocks noEditPoints="1"/>
            </p:cNvSpPr>
            <p:nvPr/>
          </p:nvSpPr>
          <p:spPr bwMode="auto">
            <a:xfrm>
              <a:off x="3734" y="866"/>
              <a:ext cx="80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0 w 34"/>
                <a:gd name="T9" fmla="*/ 36 h 41"/>
                <a:gd name="T10" fmla="*/ 26 w 34"/>
                <a:gd name="T11" fmla="*/ 31 h 41"/>
                <a:gd name="T12" fmla="*/ 17 w 34"/>
                <a:gd name="T13" fmla="*/ 34 h 41"/>
                <a:gd name="T14" fmla="*/ 7 w 34"/>
                <a:gd name="T15" fmla="*/ 23 h 41"/>
                <a:gd name="T16" fmla="*/ 33 w 34"/>
                <a:gd name="T17" fmla="*/ 23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0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3"/>
                    <a:pt x="21" y="34"/>
                    <a:pt x="17" y="34"/>
                  </a:cubicBezTo>
                  <a:cubicBezTo>
                    <a:pt x="13" y="34"/>
                    <a:pt x="8" y="31"/>
                    <a:pt x="7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2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1" y="7"/>
                    <a:pt x="17" y="7"/>
                  </a:cubicBezTo>
                  <a:cubicBezTo>
                    <a:pt x="23" y="7"/>
                    <a:pt x="25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9" name="Freeform 283"/>
            <p:cNvSpPr>
              <a:spLocks/>
            </p:cNvSpPr>
            <p:nvPr/>
          </p:nvSpPr>
          <p:spPr bwMode="auto">
            <a:xfrm>
              <a:off x="2526" y="612"/>
              <a:ext cx="107" cy="125"/>
            </a:xfrm>
            <a:custGeom>
              <a:avLst/>
              <a:gdLst>
                <a:gd name="T0" fmla="*/ 45 w 45"/>
                <a:gd name="T1" fmla="*/ 0 h 52"/>
                <a:gd name="T2" fmla="*/ 36 w 45"/>
                <a:gd name="T3" fmla="*/ 0 h 52"/>
                <a:gd name="T4" fmla="*/ 25 w 45"/>
                <a:gd name="T5" fmla="*/ 33 h 52"/>
                <a:gd name="T6" fmla="*/ 23 w 45"/>
                <a:gd name="T7" fmla="*/ 43 h 52"/>
                <a:gd name="T8" fmla="*/ 20 w 45"/>
                <a:gd name="T9" fmla="*/ 33 h 52"/>
                <a:gd name="T10" fmla="*/ 9 w 45"/>
                <a:gd name="T11" fmla="*/ 0 h 52"/>
                <a:gd name="T12" fmla="*/ 0 w 45"/>
                <a:gd name="T13" fmla="*/ 0 h 52"/>
                <a:gd name="T14" fmla="*/ 18 w 45"/>
                <a:gd name="T15" fmla="*/ 52 h 52"/>
                <a:gd name="T16" fmla="*/ 27 w 45"/>
                <a:gd name="T17" fmla="*/ 52 h 52"/>
                <a:gd name="T18" fmla="*/ 45 w 45"/>
                <a:gd name="T1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52">
                  <a:moveTo>
                    <a:pt x="45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6"/>
                    <a:pt x="23" y="41"/>
                    <a:pt x="23" y="43"/>
                  </a:cubicBezTo>
                  <a:cubicBezTo>
                    <a:pt x="22" y="41"/>
                    <a:pt x="21" y="37"/>
                    <a:pt x="20" y="3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27" y="52"/>
                    <a:pt x="27" y="52"/>
                    <a:pt x="27" y="52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0" name="Freeform 284"/>
            <p:cNvSpPr>
              <a:spLocks noEditPoints="1"/>
            </p:cNvSpPr>
            <p:nvPr/>
          </p:nvSpPr>
          <p:spPr bwMode="auto">
            <a:xfrm>
              <a:off x="2628" y="641"/>
              <a:ext cx="78" cy="98"/>
            </a:xfrm>
            <a:custGeom>
              <a:avLst/>
              <a:gdLst>
                <a:gd name="T0" fmla="*/ 33 w 33"/>
                <a:gd name="T1" fmla="*/ 20 h 41"/>
                <a:gd name="T2" fmla="*/ 17 w 33"/>
                <a:gd name="T3" fmla="*/ 0 h 41"/>
                <a:gd name="T4" fmla="*/ 0 w 33"/>
                <a:gd name="T5" fmla="*/ 21 h 41"/>
                <a:gd name="T6" fmla="*/ 16 w 33"/>
                <a:gd name="T7" fmla="*/ 41 h 41"/>
                <a:gd name="T8" fmla="*/ 30 w 33"/>
                <a:gd name="T9" fmla="*/ 36 h 41"/>
                <a:gd name="T10" fmla="*/ 25 w 33"/>
                <a:gd name="T11" fmla="*/ 31 h 41"/>
                <a:gd name="T12" fmla="*/ 17 w 33"/>
                <a:gd name="T13" fmla="*/ 34 h 41"/>
                <a:gd name="T14" fmla="*/ 7 w 33"/>
                <a:gd name="T15" fmla="*/ 24 h 41"/>
                <a:gd name="T16" fmla="*/ 33 w 33"/>
                <a:gd name="T17" fmla="*/ 24 h 41"/>
                <a:gd name="T18" fmla="*/ 33 w 33"/>
                <a:gd name="T19" fmla="*/ 20 h 41"/>
                <a:gd name="T20" fmla="*/ 25 w 33"/>
                <a:gd name="T21" fmla="*/ 17 h 41"/>
                <a:gd name="T22" fmla="*/ 7 w 33"/>
                <a:gd name="T23" fmla="*/ 17 h 41"/>
                <a:gd name="T24" fmla="*/ 16 w 33"/>
                <a:gd name="T25" fmla="*/ 7 h 41"/>
                <a:gd name="T26" fmla="*/ 25 w 33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" h="41">
                  <a:moveTo>
                    <a:pt x="33" y="20"/>
                  </a:moveTo>
                  <a:cubicBezTo>
                    <a:pt x="33" y="9"/>
                    <a:pt x="28" y="0"/>
                    <a:pt x="17" y="0"/>
                  </a:cubicBezTo>
                  <a:cubicBezTo>
                    <a:pt x="7" y="0"/>
                    <a:pt x="0" y="8"/>
                    <a:pt x="0" y="21"/>
                  </a:cubicBezTo>
                  <a:cubicBezTo>
                    <a:pt x="0" y="34"/>
                    <a:pt x="7" y="41"/>
                    <a:pt x="16" y="41"/>
                  </a:cubicBezTo>
                  <a:cubicBezTo>
                    <a:pt x="22" y="41"/>
                    <a:pt x="27" y="39"/>
                    <a:pt x="30" y="36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3" y="33"/>
                    <a:pt x="20" y="34"/>
                    <a:pt x="17" y="34"/>
                  </a:cubicBezTo>
                  <a:cubicBezTo>
                    <a:pt x="12" y="34"/>
                    <a:pt x="8" y="31"/>
                    <a:pt x="7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3"/>
                    <a:pt x="33" y="21"/>
                    <a:pt x="33" y="20"/>
                  </a:cubicBezTo>
                  <a:close/>
                  <a:moveTo>
                    <a:pt x="25" y="17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8" y="11"/>
                    <a:pt x="11" y="7"/>
                    <a:pt x="16" y="7"/>
                  </a:cubicBezTo>
                  <a:cubicBezTo>
                    <a:pt x="23" y="7"/>
                    <a:pt x="25" y="12"/>
                    <a:pt x="25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1" name="Freeform 285"/>
            <p:cNvSpPr>
              <a:spLocks/>
            </p:cNvSpPr>
            <p:nvPr/>
          </p:nvSpPr>
          <p:spPr bwMode="auto">
            <a:xfrm>
              <a:off x="2730" y="641"/>
              <a:ext cx="54" cy="96"/>
            </a:xfrm>
            <a:custGeom>
              <a:avLst/>
              <a:gdLst>
                <a:gd name="T0" fmla="*/ 23 w 23"/>
                <a:gd name="T1" fmla="*/ 2 h 40"/>
                <a:gd name="T2" fmla="*/ 16 w 23"/>
                <a:gd name="T3" fmla="*/ 0 h 40"/>
                <a:gd name="T4" fmla="*/ 7 w 23"/>
                <a:gd name="T5" fmla="*/ 5 h 40"/>
                <a:gd name="T6" fmla="*/ 7 w 23"/>
                <a:gd name="T7" fmla="*/ 1 h 40"/>
                <a:gd name="T8" fmla="*/ 0 w 23"/>
                <a:gd name="T9" fmla="*/ 1 h 40"/>
                <a:gd name="T10" fmla="*/ 0 w 23"/>
                <a:gd name="T11" fmla="*/ 40 h 40"/>
                <a:gd name="T12" fmla="*/ 7 w 23"/>
                <a:gd name="T13" fmla="*/ 40 h 40"/>
                <a:gd name="T14" fmla="*/ 7 w 23"/>
                <a:gd name="T15" fmla="*/ 18 h 40"/>
                <a:gd name="T16" fmla="*/ 15 w 23"/>
                <a:gd name="T17" fmla="*/ 8 h 40"/>
                <a:gd name="T18" fmla="*/ 21 w 23"/>
                <a:gd name="T19" fmla="*/ 9 h 40"/>
                <a:gd name="T20" fmla="*/ 23 w 23"/>
                <a:gd name="T21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40">
                  <a:moveTo>
                    <a:pt x="23" y="2"/>
                  </a:moveTo>
                  <a:cubicBezTo>
                    <a:pt x="21" y="1"/>
                    <a:pt x="19" y="0"/>
                    <a:pt x="16" y="0"/>
                  </a:cubicBezTo>
                  <a:cubicBezTo>
                    <a:pt x="12" y="0"/>
                    <a:pt x="9" y="2"/>
                    <a:pt x="7" y="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1"/>
                    <a:pt x="10" y="8"/>
                    <a:pt x="15" y="8"/>
                  </a:cubicBezTo>
                  <a:cubicBezTo>
                    <a:pt x="18" y="8"/>
                    <a:pt x="19" y="8"/>
                    <a:pt x="21" y="9"/>
                  </a:cubicBezTo>
                  <a:lnTo>
                    <a:pt x="23" y="2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2" name="Freeform 286"/>
            <p:cNvSpPr>
              <a:spLocks noEditPoints="1"/>
            </p:cNvSpPr>
            <p:nvPr/>
          </p:nvSpPr>
          <p:spPr bwMode="auto">
            <a:xfrm>
              <a:off x="2794" y="641"/>
              <a:ext cx="80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1 h 41"/>
                <a:gd name="T6" fmla="*/ 17 w 34"/>
                <a:gd name="T7" fmla="*/ 41 h 41"/>
                <a:gd name="T8" fmla="*/ 31 w 34"/>
                <a:gd name="T9" fmla="*/ 36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4 h 41"/>
                <a:gd name="T16" fmla="*/ 34 w 34"/>
                <a:gd name="T17" fmla="*/ 24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8"/>
                    <a:pt x="0" y="21"/>
                  </a:cubicBezTo>
                  <a:cubicBezTo>
                    <a:pt x="0" y="34"/>
                    <a:pt x="8" y="41"/>
                    <a:pt x="17" y="41"/>
                  </a:cubicBezTo>
                  <a:cubicBezTo>
                    <a:pt x="23" y="41"/>
                    <a:pt x="27" y="39"/>
                    <a:pt x="31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3"/>
                    <a:pt x="21" y="34"/>
                    <a:pt x="18" y="34"/>
                  </a:cubicBezTo>
                  <a:cubicBezTo>
                    <a:pt x="13" y="34"/>
                    <a:pt x="8" y="31"/>
                    <a:pt x="8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3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2" y="7"/>
                    <a:pt x="17" y="7"/>
                  </a:cubicBezTo>
                  <a:cubicBezTo>
                    <a:pt x="23" y="7"/>
                    <a:pt x="26" y="12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3" name="Freeform 287"/>
            <p:cNvSpPr>
              <a:spLocks noEditPoints="1"/>
            </p:cNvSpPr>
            <p:nvPr/>
          </p:nvSpPr>
          <p:spPr bwMode="auto">
            <a:xfrm>
              <a:off x="2896" y="608"/>
              <a:ext cx="21" cy="129"/>
            </a:xfrm>
            <a:custGeom>
              <a:avLst/>
              <a:gdLst>
                <a:gd name="T0" fmla="*/ 9 w 9"/>
                <a:gd name="T1" fmla="*/ 5 h 54"/>
                <a:gd name="T2" fmla="*/ 5 w 9"/>
                <a:gd name="T3" fmla="*/ 0 h 54"/>
                <a:gd name="T4" fmla="*/ 0 w 9"/>
                <a:gd name="T5" fmla="*/ 5 h 54"/>
                <a:gd name="T6" fmla="*/ 5 w 9"/>
                <a:gd name="T7" fmla="*/ 10 h 54"/>
                <a:gd name="T8" fmla="*/ 9 w 9"/>
                <a:gd name="T9" fmla="*/ 5 h 54"/>
                <a:gd name="T10" fmla="*/ 8 w 9"/>
                <a:gd name="T11" fmla="*/ 54 h 54"/>
                <a:gd name="T12" fmla="*/ 8 w 9"/>
                <a:gd name="T13" fmla="*/ 15 h 54"/>
                <a:gd name="T14" fmla="*/ 1 w 9"/>
                <a:gd name="T15" fmla="*/ 15 h 54"/>
                <a:gd name="T16" fmla="*/ 1 w 9"/>
                <a:gd name="T17" fmla="*/ 54 h 54"/>
                <a:gd name="T18" fmla="*/ 8 w 9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54">
                  <a:moveTo>
                    <a:pt x="9" y="5"/>
                  </a:moveTo>
                  <a:cubicBezTo>
                    <a:pt x="9" y="3"/>
                    <a:pt x="7" y="0"/>
                    <a:pt x="5" y="0"/>
                  </a:cubicBezTo>
                  <a:cubicBezTo>
                    <a:pt x="2" y="0"/>
                    <a:pt x="0" y="3"/>
                    <a:pt x="0" y="5"/>
                  </a:cubicBezTo>
                  <a:cubicBezTo>
                    <a:pt x="0" y="8"/>
                    <a:pt x="2" y="10"/>
                    <a:pt x="5" y="10"/>
                  </a:cubicBezTo>
                  <a:cubicBezTo>
                    <a:pt x="7" y="10"/>
                    <a:pt x="9" y="8"/>
                    <a:pt x="9" y="5"/>
                  </a:cubicBezTo>
                  <a:close/>
                  <a:moveTo>
                    <a:pt x="8" y="54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4" name="Freeform 288"/>
            <p:cNvSpPr>
              <a:spLocks/>
            </p:cNvSpPr>
            <p:nvPr/>
          </p:nvSpPr>
          <p:spPr bwMode="auto">
            <a:xfrm>
              <a:off x="2943" y="641"/>
              <a:ext cx="73" cy="96"/>
            </a:xfrm>
            <a:custGeom>
              <a:avLst/>
              <a:gdLst>
                <a:gd name="T0" fmla="*/ 31 w 31"/>
                <a:gd name="T1" fmla="*/ 40 h 40"/>
                <a:gd name="T2" fmla="*/ 31 w 31"/>
                <a:gd name="T3" fmla="*/ 18 h 40"/>
                <a:gd name="T4" fmla="*/ 18 w 31"/>
                <a:gd name="T5" fmla="*/ 0 h 40"/>
                <a:gd name="T6" fmla="*/ 8 w 31"/>
                <a:gd name="T7" fmla="*/ 5 h 40"/>
                <a:gd name="T8" fmla="*/ 8 w 31"/>
                <a:gd name="T9" fmla="*/ 1 h 40"/>
                <a:gd name="T10" fmla="*/ 0 w 31"/>
                <a:gd name="T11" fmla="*/ 1 h 40"/>
                <a:gd name="T12" fmla="*/ 0 w 31"/>
                <a:gd name="T13" fmla="*/ 40 h 40"/>
                <a:gd name="T14" fmla="*/ 8 w 31"/>
                <a:gd name="T15" fmla="*/ 40 h 40"/>
                <a:gd name="T16" fmla="*/ 8 w 31"/>
                <a:gd name="T17" fmla="*/ 18 h 40"/>
                <a:gd name="T18" fmla="*/ 16 w 31"/>
                <a:gd name="T19" fmla="*/ 8 h 40"/>
                <a:gd name="T20" fmla="*/ 24 w 31"/>
                <a:gd name="T21" fmla="*/ 18 h 40"/>
                <a:gd name="T22" fmla="*/ 24 w 31"/>
                <a:gd name="T23" fmla="*/ 40 h 40"/>
                <a:gd name="T24" fmla="*/ 31 w 31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0">
                  <a:moveTo>
                    <a:pt x="31" y="40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27" y="0"/>
                    <a:pt x="18" y="0"/>
                  </a:cubicBezTo>
                  <a:cubicBezTo>
                    <a:pt x="14" y="0"/>
                    <a:pt x="10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1"/>
                    <a:pt x="11" y="8"/>
                    <a:pt x="16" y="8"/>
                  </a:cubicBezTo>
                  <a:cubicBezTo>
                    <a:pt x="21" y="8"/>
                    <a:pt x="24" y="10"/>
                    <a:pt x="24" y="18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1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5" name="Freeform 289"/>
            <p:cNvSpPr>
              <a:spLocks noEditPoints="1"/>
            </p:cNvSpPr>
            <p:nvPr/>
          </p:nvSpPr>
          <p:spPr bwMode="auto">
            <a:xfrm>
              <a:off x="3042" y="608"/>
              <a:ext cx="24" cy="129"/>
            </a:xfrm>
            <a:custGeom>
              <a:avLst/>
              <a:gdLst>
                <a:gd name="T0" fmla="*/ 10 w 10"/>
                <a:gd name="T1" fmla="*/ 5 h 54"/>
                <a:gd name="T2" fmla="*/ 5 w 10"/>
                <a:gd name="T3" fmla="*/ 0 h 54"/>
                <a:gd name="T4" fmla="*/ 0 w 10"/>
                <a:gd name="T5" fmla="*/ 5 h 54"/>
                <a:gd name="T6" fmla="*/ 5 w 10"/>
                <a:gd name="T7" fmla="*/ 10 h 54"/>
                <a:gd name="T8" fmla="*/ 10 w 10"/>
                <a:gd name="T9" fmla="*/ 5 h 54"/>
                <a:gd name="T10" fmla="*/ 9 w 10"/>
                <a:gd name="T11" fmla="*/ 54 h 54"/>
                <a:gd name="T12" fmla="*/ 9 w 10"/>
                <a:gd name="T13" fmla="*/ 15 h 54"/>
                <a:gd name="T14" fmla="*/ 1 w 10"/>
                <a:gd name="T15" fmla="*/ 15 h 54"/>
                <a:gd name="T16" fmla="*/ 1 w 10"/>
                <a:gd name="T17" fmla="*/ 54 h 54"/>
                <a:gd name="T18" fmla="*/ 9 w 10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4">
                  <a:moveTo>
                    <a:pt x="10" y="5"/>
                  </a:moveTo>
                  <a:cubicBezTo>
                    <a:pt x="10" y="3"/>
                    <a:pt x="7" y="0"/>
                    <a:pt x="5" y="0"/>
                  </a:cubicBezTo>
                  <a:cubicBezTo>
                    <a:pt x="2" y="0"/>
                    <a:pt x="0" y="3"/>
                    <a:pt x="0" y="5"/>
                  </a:cubicBezTo>
                  <a:cubicBezTo>
                    <a:pt x="0" y="8"/>
                    <a:pt x="2" y="10"/>
                    <a:pt x="5" y="10"/>
                  </a:cubicBezTo>
                  <a:cubicBezTo>
                    <a:pt x="7" y="10"/>
                    <a:pt x="10" y="8"/>
                    <a:pt x="10" y="5"/>
                  </a:cubicBezTo>
                  <a:close/>
                  <a:moveTo>
                    <a:pt x="9" y="5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9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6" name="Freeform 290"/>
            <p:cNvSpPr>
              <a:spLocks noEditPoints="1"/>
            </p:cNvSpPr>
            <p:nvPr/>
          </p:nvSpPr>
          <p:spPr bwMode="auto">
            <a:xfrm>
              <a:off x="3087" y="641"/>
              <a:ext cx="76" cy="131"/>
            </a:xfrm>
            <a:custGeom>
              <a:avLst/>
              <a:gdLst>
                <a:gd name="T0" fmla="*/ 32 w 32"/>
                <a:gd name="T1" fmla="*/ 37 h 55"/>
                <a:gd name="T2" fmla="*/ 32 w 32"/>
                <a:gd name="T3" fmla="*/ 1 h 55"/>
                <a:gd name="T4" fmla="*/ 25 w 32"/>
                <a:gd name="T5" fmla="*/ 1 h 55"/>
                <a:gd name="T6" fmla="*/ 25 w 32"/>
                <a:gd name="T7" fmla="*/ 5 h 55"/>
                <a:gd name="T8" fmla="*/ 15 w 32"/>
                <a:gd name="T9" fmla="*/ 0 h 55"/>
                <a:gd name="T10" fmla="*/ 0 w 32"/>
                <a:gd name="T11" fmla="*/ 20 h 55"/>
                <a:gd name="T12" fmla="*/ 15 w 32"/>
                <a:gd name="T13" fmla="*/ 41 h 55"/>
                <a:gd name="T14" fmla="*/ 25 w 32"/>
                <a:gd name="T15" fmla="*/ 37 h 55"/>
                <a:gd name="T16" fmla="*/ 25 w 32"/>
                <a:gd name="T17" fmla="*/ 37 h 55"/>
                <a:gd name="T18" fmla="*/ 11 w 32"/>
                <a:gd name="T19" fmla="*/ 49 h 55"/>
                <a:gd name="T20" fmla="*/ 14 w 32"/>
                <a:gd name="T21" fmla="*/ 55 h 55"/>
                <a:gd name="T22" fmla="*/ 32 w 32"/>
                <a:gd name="T23" fmla="*/ 37 h 55"/>
                <a:gd name="T24" fmla="*/ 25 w 32"/>
                <a:gd name="T25" fmla="*/ 29 h 55"/>
                <a:gd name="T26" fmla="*/ 16 w 32"/>
                <a:gd name="T27" fmla="*/ 34 h 55"/>
                <a:gd name="T28" fmla="*/ 7 w 32"/>
                <a:gd name="T29" fmla="*/ 20 h 55"/>
                <a:gd name="T30" fmla="*/ 16 w 32"/>
                <a:gd name="T31" fmla="*/ 8 h 55"/>
                <a:gd name="T32" fmla="*/ 25 w 32"/>
                <a:gd name="T33" fmla="*/ 13 h 55"/>
                <a:gd name="T34" fmla="*/ 25 w 32"/>
                <a:gd name="T35" fmla="*/ 2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55">
                  <a:moveTo>
                    <a:pt x="32" y="37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3" y="3"/>
                    <a:pt x="19" y="0"/>
                    <a:pt x="15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5"/>
                    <a:pt x="6" y="41"/>
                    <a:pt x="15" y="41"/>
                  </a:cubicBezTo>
                  <a:cubicBezTo>
                    <a:pt x="19" y="41"/>
                    <a:pt x="22" y="39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45"/>
                    <a:pt x="22" y="48"/>
                    <a:pt x="11" y="49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28" y="54"/>
                    <a:pt x="32" y="49"/>
                    <a:pt x="32" y="37"/>
                  </a:cubicBezTo>
                  <a:close/>
                  <a:moveTo>
                    <a:pt x="25" y="29"/>
                  </a:moveTo>
                  <a:cubicBezTo>
                    <a:pt x="23" y="32"/>
                    <a:pt x="20" y="34"/>
                    <a:pt x="16" y="34"/>
                  </a:cubicBezTo>
                  <a:cubicBezTo>
                    <a:pt x="10" y="34"/>
                    <a:pt x="7" y="30"/>
                    <a:pt x="7" y="20"/>
                  </a:cubicBezTo>
                  <a:cubicBezTo>
                    <a:pt x="7" y="12"/>
                    <a:pt x="10" y="8"/>
                    <a:pt x="16" y="8"/>
                  </a:cubicBezTo>
                  <a:cubicBezTo>
                    <a:pt x="20" y="8"/>
                    <a:pt x="23" y="10"/>
                    <a:pt x="25" y="13"/>
                  </a:cubicBezTo>
                  <a:lnTo>
                    <a:pt x="25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7" name="Freeform 291"/>
            <p:cNvSpPr>
              <a:spLocks/>
            </p:cNvSpPr>
            <p:nvPr/>
          </p:nvSpPr>
          <p:spPr bwMode="auto">
            <a:xfrm>
              <a:off x="3189" y="643"/>
              <a:ext cx="76" cy="96"/>
            </a:xfrm>
            <a:custGeom>
              <a:avLst/>
              <a:gdLst>
                <a:gd name="T0" fmla="*/ 32 w 32"/>
                <a:gd name="T1" fmla="*/ 39 h 40"/>
                <a:gd name="T2" fmla="*/ 32 w 32"/>
                <a:gd name="T3" fmla="*/ 0 h 40"/>
                <a:gd name="T4" fmla="*/ 24 w 32"/>
                <a:gd name="T5" fmla="*/ 0 h 40"/>
                <a:gd name="T6" fmla="*/ 24 w 32"/>
                <a:gd name="T7" fmla="*/ 23 h 40"/>
                <a:gd name="T8" fmla="*/ 16 w 32"/>
                <a:gd name="T9" fmla="*/ 33 h 40"/>
                <a:gd name="T10" fmla="*/ 8 w 32"/>
                <a:gd name="T11" fmla="*/ 22 h 40"/>
                <a:gd name="T12" fmla="*/ 8 w 32"/>
                <a:gd name="T13" fmla="*/ 0 h 40"/>
                <a:gd name="T14" fmla="*/ 0 w 32"/>
                <a:gd name="T15" fmla="*/ 0 h 40"/>
                <a:gd name="T16" fmla="*/ 0 w 32"/>
                <a:gd name="T17" fmla="*/ 23 h 40"/>
                <a:gd name="T18" fmla="*/ 14 w 32"/>
                <a:gd name="T19" fmla="*/ 40 h 40"/>
                <a:gd name="T20" fmla="*/ 24 w 32"/>
                <a:gd name="T21" fmla="*/ 36 h 40"/>
                <a:gd name="T22" fmla="*/ 24 w 32"/>
                <a:gd name="T23" fmla="*/ 39 h 40"/>
                <a:gd name="T24" fmla="*/ 32 w 32"/>
                <a:gd name="T25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32" y="39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9"/>
                    <a:pt x="21" y="33"/>
                    <a:pt x="16" y="33"/>
                  </a:cubicBezTo>
                  <a:cubicBezTo>
                    <a:pt x="11" y="33"/>
                    <a:pt x="8" y="30"/>
                    <a:pt x="8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34"/>
                    <a:pt x="5" y="40"/>
                    <a:pt x="14" y="40"/>
                  </a:cubicBezTo>
                  <a:cubicBezTo>
                    <a:pt x="18" y="40"/>
                    <a:pt x="22" y="38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lnTo>
                    <a:pt x="32" y="3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8" name="Freeform 292"/>
            <p:cNvSpPr>
              <a:spLocks/>
            </p:cNvSpPr>
            <p:nvPr/>
          </p:nvSpPr>
          <p:spPr bwMode="auto">
            <a:xfrm>
              <a:off x="3291" y="641"/>
              <a:ext cx="76" cy="96"/>
            </a:xfrm>
            <a:custGeom>
              <a:avLst/>
              <a:gdLst>
                <a:gd name="T0" fmla="*/ 32 w 32"/>
                <a:gd name="T1" fmla="*/ 40 h 40"/>
                <a:gd name="T2" fmla="*/ 32 w 32"/>
                <a:gd name="T3" fmla="*/ 18 h 40"/>
                <a:gd name="T4" fmla="*/ 18 w 32"/>
                <a:gd name="T5" fmla="*/ 0 h 40"/>
                <a:gd name="T6" fmla="*/ 8 w 32"/>
                <a:gd name="T7" fmla="*/ 5 h 40"/>
                <a:gd name="T8" fmla="*/ 8 w 32"/>
                <a:gd name="T9" fmla="*/ 1 h 40"/>
                <a:gd name="T10" fmla="*/ 0 w 32"/>
                <a:gd name="T11" fmla="*/ 1 h 40"/>
                <a:gd name="T12" fmla="*/ 0 w 32"/>
                <a:gd name="T13" fmla="*/ 40 h 40"/>
                <a:gd name="T14" fmla="*/ 8 w 32"/>
                <a:gd name="T15" fmla="*/ 40 h 40"/>
                <a:gd name="T16" fmla="*/ 8 w 32"/>
                <a:gd name="T17" fmla="*/ 18 h 40"/>
                <a:gd name="T18" fmla="*/ 16 w 32"/>
                <a:gd name="T19" fmla="*/ 8 h 40"/>
                <a:gd name="T20" fmla="*/ 24 w 32"/>
                <a:gd name="T21" fmla="*/ 18 h 40"/>
                <a:gd name="T22" fmla="*/ 24 w 32"/>
                <a:gd name="T23" fmla="*/ 40 h 40"/>
                <a:gd name="T24" fmla="*/ 32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32" y="40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27" y="0"/>
                    <a:pt x="18" y="0"/>
                  </a:cubicBezTo>
                  <a:cubicBezTo>
                    <a:pt x="14" y="0"/>
                    <a:pt x="10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1"/>
                    <a:pt x="11" y="8"/>
                    <a:pt x="16" y="8"/>
                  </a:cubicBezTo>
                  <a:cubicBezTo>
                    <a:pt x="21" y="8"/>
                    <a:pt x="24" y="10"/>
                    <a:pt x="24" y="18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2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9" name="Freeform 293"/>
            <p:cNvSpPr>
              <a:spLocks noEditPoints="1"/>
            </p:cNvSpPr>
            <p:nvPr/>
          </p:nvSpPr>
          <p:spPr bwMode="auto">
            <a:xfrm>
              <a:off x="3388" y="641"/>
              <a:ext cx="78" cy="131"/>
            </a:xfrm>
            <a:custGeom>
              <a:avLst/>
              <a:gdLst>
                <a:gd name="T0" fmla="*/ 33 w 33"/>
                <a:gd name="T1" fmla="*/ 37 h 55"/>
                <a:gd name="T2" fmla="*/ 33 w 33"/>
                <a:gd name="T3" fmla="*/ 1 h 55"/>
                <a:gd name="T4" fmla="*/ 25 w 33"/>
                <a:gd name="T5" fmla="*/ 1 h 55"/>
                <a:gd name="T6" fmla="*/ 25 w 33"/>
                <a:gd name="T7" fmla="*/ 5 h 55"/>
                <a:gd name="T8" fmla="*/ 15 w 33"/>
                <a:gd name="T9" fmla="*/ 0 h 55"/>
                <a:gd name="T10" fmla="*/ 0 w 33"/>
                <a:gd name="T11" fmla="*/ 20 h 55"/>
                <a:gd name="T12" fmla="*/ 15 w 33"/>
                <a:gd name="T13" fmla="*/ 41 h 55"/>
                <a:gd name="T14" fmla="*/ 25 w 33"/>
                <a:gd name="T15" fmla="*/ 37 h 55"/>
                <a:gd name="T16" fmla="*/ 25 w 33"/>
                <a:gd name="T17" fmla="*/ 37 h 55"/>
                <a:gd name="T18" fmla="*/ 12 w 33"/>
                <a:gd name="T19" fmla="*/ 49 h 55"/>
                <a:gd name="T20" fmla="*/ 14 w 33"/>
                <a:gd name="T21" fmla="*/ 55 h 55"/>
                <a:gd name="T22" fmla="*/ 33 w 33"/>
                <a:gd name="T23" fmla="*/ 37 h 55"/>
                <a:gd name="T24" fmla="*/ 25 w 33"/>
                <a:gd name="T25" fmla="*/ 29 h 55"/>
                <a:gd name="T26" fmla="*/ 16 w 33"/>
                <a:gd name="T27" fmla="*/ 34 h 55"/>
                <a:gd name="T28" fmla="*/ 8 w 33"/>
                <a:gd name="T29" fmla="*/ 20 h 55"/>
                <a:gd name="T30" fmla="*/ 16 w 33"/>
                <a:gd name="T31" fmla="*/ 8 h 55"/>
                <a:gd name="T32" fmla="*/ 25 w 33"/>
                <a:gd name="T33" fmla="*/ 13 h 55"/>
                <a:gd name="T34" fmla="*/ 25 w 33"/>
                <a:gd name="T35" fmla="*/ 2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55">
                  <a:moveTo>
                    <a:pt x="33" y="37"/>
                  </a:moveTo>
                  <a:cubicBezTo>
                    <a:pt x="33" y="1"/>
                    <a:pt x="33" y="1"/>
                    <a:pt x="33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3" y="3"/>
                    <a:pt x="19" y="0"/>
                    <a:pt x="15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5"/>
                    <a:pt x="7" y="41"/>
                    <a:pt x="15" y="41"/>
                  </a:cubicBezTo>
                  <a:cubicBezTo>
                    <a:pt x="19" y="41"/>
                    <a:pt x="22" y="39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45"/>
                    <a:pt x="23" y="48"/>
                    <a:pt x="12" y="49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29" y="54"/>
                    <a:pt x="33" y="49"/>
                    <a:pt x="33" y="37"/>
                  </a:cubicBezTo>
                  <a:close/>
                  <a:moveTo>
                    <a:pt x="25" y="29"/>
                  </a:moveTo>
                  <a:cubicBezTo>
                    <a:pt x="23" y="32"/>
                    <a:pt x="20" y="34"/>
                    <a:pt x="16" y="34"/>
                  </a:cubicBezTo>
                  <a:cubicBezTo>
                    <a:pt x="11" y="34"/>
                    <a:pt x="8" y="30"/>
                    <a:pt x="8" y="20"/>
                  </a:cubicBezTo>
                  <a:cubicBezTo>
                    <a:pt x="8" y="12"/>
                    <a:pt x="11" y="8"/>
                    <a:pt x="16" y="8"/>
                  </a:cubicBezTo>
                  <a:cubicBezTo>
                    <a:pt x="20" y="8"/>
                    <a:pt x="24" y="10"/>
                    <a:pt x="25" y="13"/>
                  </a:cubicBezTo>
                  <a:lnTo>
                    <a:pt x="25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0" name="Freeform 294"/>
            <p:cNvSpPr>
              <a:spLocks/>
            </p:cNvSpPr>
            <p:nvPr/>
          </p:nvSpPr>
          <p:spPr bwMode="auto">
            <a:xfrm>
              <a:off x="2536" y="390"/>
              <a:ext cx="97" cy="124"/>
            </a:xfrm>
            <a:custGeom>
              <a:avLst/>
              <a:gdLst>
                <a:gd name="T0" fmla="*/ 41 w 41"/>
                <a:gd name="T1" fmla="*/ 52 h 52"/>
                <a:gd name="T2" fmla="*/ 22 w 41"/>
                <a:gd name="T3" fmla="*/ 19 h 52"/>
                <a:gd name="T4" fmla="*/ 37 w 41"/>
                <a:gd name="T5" fmla="*/ 0 h 52"/>
                <a:gd name="T6" fmla="*/ 28 w 41"/>
                <a:gd name="T7" fmla="*/ 0 h 52"/>
                <a:gd name="T8" fmla="*/ 13 w 41"/>
                <a:gd name="T9" fmla="*/ 19 h 52"/>
                <a:gd name="T10" fmla="*/ 7 w 41"/>
                <a:gd name="T11" fmla="*/ 27 h 52"/>
                <a:gd name="T12" fmla="*/ 7 w 41"/>
                <a:gd name="T13" fmla="*/ 18 h 52"/>
                <a:gd name="T14" fmla="*/ 7 w 41"/>
                <a:gd name="T15" fmla="*/ 0 h 52"/>
                <a:gd name="T16" fmla="*/ 0 w 41"/>
                <a:gd name="T17" fmla="*/ 0 h 52"/>
                <a:gd name="T18" fmla="*/ 0 w 41"/>
                <a:gd name="T19" fmla="*/ 52 h 52"/>
                <a:gd name="T20" fmla="*/ 7 w 41"/>
                <a:gd name="T21" fmla="*/ 52 h 52"/>
                <a:gd name="T22" fmla="*/ 7 w 41"/>
                <a:gd name="T23" fmla="*/ 37 h 52"/>
                <a:gd name="T24" fmla="*/ 17 w 41"/>
                <a:gd name="T25" fmla="*/ 25 h 52"/>
                <a:gd name="T26" fmla="*/ 32 w 41"/>
                <a:gd name="T27" fmla="*/ 52 h 52"/>
                <a:gd name="T28" fmla="*/ 41 w 41"/>
                <a:gd name="T2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2">
                  <a:moveTo>
                    <a:pt x="41" y="52"/>
                  </a:moveTo>
                  <a:cubicBezTo>
                    <a:pt x="22" y="19"/>
                    <a:pt x="22" y="19"/>
                    <a:pt x="22" y="1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1" y="21"/>
                    <a:pt x="8" y="25"/>
                    <a:pt x="7" y="27"/>
                  </a:cubicBezTo>
                  <a:cubicBezTo>
                    <a:pt x="7" y="25"/>
                    <a:pt x="7" y="19"/>
                    <a:pt x="7" y="18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32" y="52"/>
                    <a:pt x="32" y="52"/>
                    <a:pt x="32" y="52"/>
                  </a:cubicBezTo>
                  <a:lnTo>
                    <a:pt x="41" y="52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1" name="Freeform 295"/>
            <p:cNvSpPr>
              <a:spLocks noEditPoints="1"/>
            </p:cNvSpPr>
            <p:nvPr/>
          </p:nvSpPr>
          <p:spPr bwMode="auto">
            <a:xfrm>
              <a:off x="2642" y="419"/>
              <a:ext cx="74" cy="98"/>
            </a:xfrm>
            <a:custGeom>
              <a:avLst/>
              <a:gdLst>
                <a:gd name="T0" fmla="*/ 31 w 31"/>
                <a:gd name="T1" fmla="*/ 40 h 41"/>
                <a:gd name="T2" fmla="*/ 31 w 31"/>
                <a:gd name="T3" fmla="*/ 13 h 41"/>
                <a:gd name="T4" fmla="*/ 17 w 31"/>
                <a:gd name="T5" fmla="*/ 0 h 41"/>
                <a:gd name="T6" fmla="*/ 3 w 31"/>
                <a:gd name="T7" fmla="*/ 3 h 41"/>
                <a:gd name="T8" fmla="*/ 6 w 31"/>
                <a:gd name="T9" fmla="*/ 9 h 41"/>
                <a:gd name="T10" fmla="*/ 17 w 31"/>
                <a:gd name="T11" fmla="*/ 7 h 41"/>
                <a:gd name="T12" fmla="*/ 24 w 31"/>
                <a:gd name="T13" fmla="*/ 13 h 41"/>
                <a:gd name="T14" fmla="*/ 24 w 31"/>
                <a:gd name="T15" fmla="*/ 16 h 41"/>
                <a:gd name="T16" fmla="*/ 15 w 31"/>
                <a:gd name="T17" fmla="*/ 15 h 41"/>
                <a:gd name="T18" fmla="*/ 0 w 31"/>
                <a:gd name="T19" fmla="*/ 27 h 41"/>
                <a:gd name="T20" fmla="*/ 13 w 31"/>
                <a:gd name="T21" fmla="*/ 41 h 41"/>
                <a:gd name="T22" fmla="*/ 24 w 31"/>
                <a:gd name="T23" fmla="*/ 36 h 41"/>
                <a:gd name="T24" fmla="*/ 24 w 31"/>
                <a:gd name="T25" fmla="*/ 40 h 41"/>
                <a:gd name="T26" fmla="*/ 31 w 31"/>
                <a:gd name="T27" fmla="*/ 40 h 41"/>
                <a:gd name="T28" fmla="*/ 24 w 31"/>
                <a:gd name="T29" fmla="*/ 29 h 41"/>
                <a:gd name="T30" fmla="*/ 14 w 31"/>
                <a:gd name="T31" fmla="*/ 34 h 41"/>
                <a:gd name="T32" fmla="*/ 7 w 31"/>
                <a:gd name="T33" fmla="*/ 27 h 41"/>
                <a:gd name="T34" fmla="*/ 15 w 31"/>
                <a:gd name="T35" fmla="*/ 21 h 41"/>
                <a:gd name="T36" fmla="*/ 24 w 31"/>
                <a:gd name="T37" fmla="*/ 23 h 41"/>
                <a:gd name="T38" fmla="*/ 24 w 31"/>
                <a:gd name="T3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41">
                  <a:moveTo>
                    <a:pt x="31" y="40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4"/>
                    <a:pt x="26" y="0"/>
                    <a:pt x="17" y="0"/>
                  </a:cubicBezTo>
                  <a:cubicBezTo>
                    <a:pt x="11" y="0"/>
                    <a:pt x="7" y="1"/>
                    <a:pt x="3" y="3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9" y="7"/>
                    <a:pt x="13" y="7"/>
                    <a:pt x="17" y="7"/>
                  </a:cubicBezTo>
                  <a:cubicBezTo>
                    <a:pt x="21" y="7"/>
                    <a:pt x="24" y="9"/>
                    <a:pt x="24" y="13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5"/>
                    <a:pt x="19" y="15"/>
                    <a:pt x="15" y="15"/>
                  </a:cubicBezTo>
                  <a:cubicBezTo>
                    <a:pt x="6" y="15"/>
                    <a:pt x="0" y="19"/>
                    <a:pt x="0" y="27"/>
                  </a:cubicBezTo>
                  <a:cubicBezTo>
                    <a:pt x="0" y="37"/>
                    <a:pt x="7" y="41"/>
                    <a:pt x="13" y="41"/>
                  </a:cubicBezTo>
                  <a:cubicBezTo>
                    <a:pt x="17" y="41"/>
                    <a:pt x="21" y="39"/>
                    <a:pt x="24" y="36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1" y="40"/>
                  </a:lnTo>
                  <a:close/>
                  <a:moveTo>
                    <a:pt x="24" y="29"/>
                  </a:moveTo>
                  <a:cubicBezTo>
                    <a:pt x="22" y="31"/>
                    <a:pt x="19" y="34"/>
                    <a:pt x="14" y="34"/>
                  </a:cubicBezTo>
                  <a:cubicBezTo>
                    <a:pt x="9" y="34"/>
                    <a:pt x="7" y="31"/>
                    <a:pt x="7" y="27"/>
                  </a:cubicBezTo>
                  <a:cubicBezTo>
                    <a:pt x="7" y="24"/>
                    <a:pt x="10" y="21"/>
                    <a:pt x="15" y="21"/>
                  </a:cubicBezTo>
                  <a:cubicBezTo>
                    <a:pt x="19" y="21"/>
                    <a:pt x="22" y="22"/>
                    <a:pt x="24" y="23"/>
                  </a:cubicBezTo>
                  <a:lnTo>
                    <a:pt x="24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2" name="Freeform 296"/>
            <p:cNvSpPr>
              <a:spLocks/>
            </p:cNvSpPr>
            <p:nvPr/>
          </p:nvSpPr>
          <p:spPr bwMode="auto">
            <a:xfrm>
              <a:off x="2737" y="419"/>
              <a:ext cx="71" cy="98"/>
            </a:xfrm>
            <a:custGeom>
              <a:avLst/>
              <a:gdLst>
                <a:gd name="T0" fmla="*/ 30 w 30"/>
                <a:gd name="T1" fmla="*/ 29 h 41"/>
                <a:gd name="T2" fmla="*/ 17 w 30"/>
                <a:gd name="T3" fmla="*/ 16 h 41"/>
                <a:gd name="T4" fmla="*/ 9 w 30"/>
                <a:gd name="T5" fmla="*/ 10 h 41"/>
                <a:gd name="T6" fmla="*/ 15 w 30"/>
                <a:gd name="T7" fmla="*/ 7 h 41"/>
                <a:gd name="T8" fmla="*/ 25 w 30"/>
                <a:gd name="T9" fmla="*/ 10 h 41"/>
                <a:gd name="T10" fmla="*/ 28 w 30"/>
                <a:gd name="T11" fmla="*/ 4 h 41"/>
                <a:gd name="T12" fmla="*/ 15 w 30"/>
                <a:gd name="T13" fmla="*/ 0 h 41"/>
                <a:gd name="T14" fmla="*/ 2 w 30"/>
                <a:gd name="T15" fmla="*/ 11 h 41"/>
                <a:gd name="T16" fmla="*/ 13 w 30"/>
                <a:gd name="T17" fmla="*/ 23 h 41"/>
                <a:gd name="T18" fmla="*/ 22 w 30"/>
                <a:gd name="T19" fmla="*/ 29 h 41"/>
                <a:gd name="T20" fmla="*/ 15 w 30"/>
                <a:gd name="T21" fmla="*/ 34 h 41"/>
                <a:gd name="T22" fmla="*/ 4 w 30"/>
                <a:gd name="T23" fmla="*/ 30 h 41"/>
                <a:gd name="T24" fmla="*/ 0 w 30"/>
                <a:gd name="T25" fmla="*/ 36 h 41"/>
                <a:gd name="T26" fmla="*/ 15 w 30"/>
                <a:gd name="T27" fmla="*/ 41 h 41"/>
                <a:gd name="T28" fmla="*/ 30 w 30"/>
                <a:gd name="T2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41">
                  <a:moveTo>
                    <a:pt x="30" y="29"/>
                  </a:moveTo>
                  <a:cubicBezTo>
                    <a:pt x="30" y="22"/>
                    <a:pt x="25" y="19"/>
                    <a:pt x="17" y="16"/>
                  </a:cubicBezTo>
                  <a:cubicBezTo>
                    <a:pt x="11" y="14"/>
                    <a:pt x="9" y="12"/>
                    <a:pt x="9" y="10"/>
                  </a:cubicBezTo>
                  <a:cubicBezTo>
                    <a:pt x="9" y="8"/>
                    <a:pt x="11" y="7"/>
                    <a:pt x="15" y="7"/>
                  </a:cubicBezTo>
                  <a:cubicBezTo>
                    <a:pt x="19" y="7"/>
                    <a:pt x="22" y="8"/>
                    <a:pt x="25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2"/>
                    <a:pt x="20" y="0"/>
                    <a:pt x="15" y="0"/>
                  </a:cubicBezTo>
                  <a:cubicBezTo>
                    <a:pt x="7" y="0"/>
                    <a:pt x="2" y="4"/>
                    <a:pt x="2" y="11"/>
                  </a:cubicBezTo>
                  <a:cubicBezTo>
                    <a:pt x="2" y="17"/>
                    <a:pt x="5" y="20"/>
                    <a:pt x="13" y="23"/>
                  </a:cubicBezTo>
                  <a:cubicBezTo>
                    <a:pt x="19" y="25"/>
                    <a:pt x="22" y="26"/>
                    <a:pt x="22" y="29"/>
                  </a:cubicBezTo>
                  <a:cubicBezTo>
                    <a:pt x="22" y="32"/>
                    <a:pt x="20" y="34"/>
                    <a:pt x="15" y="34"/>
                  </a:cubicBezTo>
                  <a:cubicBezTo>
                    <a:pt x="11" y="34"/>
                    <a:pt x="7" y="32"/>
                    <a:pt x="4" y="3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9"/>
                    <a:pt x="10" y="41"/>
                    <a:pt x="15" y="41"/>
                  </a:cubicBezTo>
                  <a:cubicBezTo>
                    <a:pt x="23" y="41"/>
                    <a:pt x="30" y="38"/>
                    <a:pt x="30" y="29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3" name="Freeform 297"/>
            <p:cNvSpPr>
              <a:spLocks/>
            </p:cNvSpPr>
            <p:nvPr/>
          </p:nvSpPr>
          <p:spPr bwMode="auto">
            <a:xfrm>
              <a:off x="2825" y="419"/>
              <a:ext cx="68" cy="98"/>
            </a:xfrm>
            <a:custGeom>
              <a:avLst/>
              <a:gdLst>
                <a:gd name="T0" fmla="*/ 29 w 29"/>
                <a:gd name="T1" fmla="*/ 29 h 41"/>
                <a:gd name="T2" fmla="*/ 16 w 29"/>
                <a:gd name="T3" fmla="*/ 16 h 41"/>
                <a:gd name="T4" fmla="*/ 9 w 29"/>
                <a:gd name="T5" fmla="*/ 10 h 41"/>
                <a:gd name="T6" fmla="*/ 14 w 29"/>
                <a:gd name="T7" fmla="*/ 7 h 41"/>
                <a:gd name="T8" fmla="*/ 24 w 29"/>
                <a:gd name="T9" fmla="*/ 10 h 41"/>
                <a:gd name="T10" fmla="*/ 28 w 29"/>
                <a:gd name="T11" fmla="*/ 4 h 41"/>
                <a:gd name="T12" fmla="*/ 14 w 29"/>
                <a:gd name="T13" fmla="*/ 0 h 41"/>
                <a:gd name="T14" fmla="*/ 1 w 29"/>
                <a:gd name="T15" fmla="*/ 11 h 41"/>
                <a:gd name="T16" fmla="*/ 13 w 29"/>
                <a:gd name="T17" fmla="*/ 23 h 41"/>
                <a:gd name="T18" fmla="*/ 22 w 29"/>
                <a:gd name="T19" fmla="*/ 29 h 41"/>
                <a:gd name="T20" fmla="*/ 15 w 29"/>
                <a:gd name="T21" fmla="*/ 34 h 41"/>
                <a:gd name="T22" fmla="*/ 3 w 29"/>
                <a:gd name="T23" fmla="*/ 30 h 41"/>
                <a:gd name="T24" fmla="*/ 0 w 29"/>
                <a:gd name="T25" fmla="*/ 36 h 41"/>
                <a:gd name="T26" fmla="*/ 15 w 29"/>
                <a:gd name="T27" fmla="*/ 41 h 41"/>
                <a:gd name="T28" fmla="*/ 29 w 29"/>
                <a:gd name="T2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41">
                  <a:moveTo>
                    <a:pt x="29" y="29"/>
                  </a:moveTo>
                  <a:cubicBezTo>
                    <a:pt x="29" y="22"/>
                    <a:pt x="25" y="19"/>
                    <a:pt x="16" y="16"/>
                  </a:cubicBezTo>
                  <a:cubicBezTo>
                    <a:pt x="10" y="14"/>
                    <a:pt x="9" y="12"/>
                    <a:pt x="9" y="10"/>
                  </a:cubicBezTo>
                  <a:cubicBezTo>
                    <a:pt x="9" y="8"/>
                    <a:pt x="10" y="7"/>
                    <a:pt x="14" y="7"/>
                  </a:cubicBezTo>
                  <a:cubicBezTo>
                    <a:pt x="18" y="7"/>
                    <a:pt x="21" y="8"/>
                    <a:pt x="24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4" y="2"/>
                    <a:pt x="19" y="0"/>
                    <a:pt x="14" y="0"/>
                  </a:cubicBezTo>
                  <a:cubicBezTo>
                    <a:pt x="7" y="0"/>
                    <a:pt x="1" y="4"/>
                    <a:pt x="1" y="11"/>
                  </a:cubicBezTo>
                  <a:cubicBezTo>
                    <a:pt x="1" y="17"/>
                    <a:pt x="4" y="20"/>
                    <a:pt x="13" y="23"/>
                  </a:cubicBezTo>
                  <a:cubicBezTo>
                    <a:pt x="18" y="25"/>
                    <a:pt x="22" y="26"/>
                    <a:pt x="22" y="29"/>
                  </a:cubicBezTo>
                  <a:cubicBezTo>
                    <a:pt x="22" y="32"/>
                    <a:pt x="19" y="34"/>
                    <a:pt x="15" y="34"/>
                  </a:cubicBezTo>
                  <a:cubicBezTo>
                    <a:pt x="11" y="34"/>
                    <a:pt x="7" y="32"/>
                    <a:pt x="3" y="3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9"/>
                    <a:pt x="9" y="41"/>
                    <a:pt x="15" y="41"/>
                  </a:cubicBezTo>
                  <a:cubicBezTo>
                    <a:pt x="22" y="41"/>
                    <a:pt x="29" y="38"/>
                    <a:pt x="29" y="29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4" name="Freeform 298"/>
            <p:cNvSpPr>
              <a:spLocks noEditPoints="1"/>
            </p:cNvSpPr>
            <p:nvPr/>
          </p:nvSpPr>
          <p:spPr bwMode="auto">
            <a:xfrm>
              <a:off x="2910" y="419"/>
              <a:ext cx="80" cy="98"/>
            </a:xfrm>
            <a:custGeom>
              <a:avLst/>
              <a:gdLst>
                <a:gd name="T0" fmla="*/ 34 w 34"/>
                <a:gd name="T1" fmla="*/ 19 h 41"/>
                <a:gd name="T2" fmla="*/ 18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1 w 34"/>
                <a:gd name="T9" fmla="*/ 35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3 h 41"/>
                <a:gd name="T16" fmla="*/ 34 w 34"/>
                <a:gd name="T17" fmla="*/ 23 h 41"/>
                <a:gd name="T18" fmla="*/ 34 w 34"/>
                <a:gd name="T19" fmla="*/ 19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19"/>
                  </a:moveTo>
                  <a:cubicBezTo>
                    <a:pt x="34" y="9"/>
                    <a:pt x="29" y="0"/>
                    <a:pt x="18" y="0"/>
                  </a:cubicBezTo>
                  <a:cubicBezTo>
                    <a:pt x="8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1" y="35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4" y="32"/>
                    <a:pt x="21" y="34"/>
                    <a:pt x="18" y="34"/>
                  </a:cubicBezTo>
                  <a:cubicBezTo>
                    <a:pt x="13" y="34"/>
                    <a:pt x="9" y="30"/>
                    <a:pt x="8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2"/>
                    <a:pt x="34" y="21"/>
                    <a:pt x="34" y="19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0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5" name="Freeform 299"/>
            <p:cNvSpPr>
              <a:spLocks/>
            </p:cNvSpPr>
            <p:nvPr/>
          </p:nvSpPr>
          <p:spPr bwMode="auto">
            <a:xfrm>
              <a:off x="3014" y="419"/>
              <a:ext cx="73" cy="95"/>
            </a:xfrm>
            <a:custGeom>
              <a:avLst/>
              <a:gdLst>
                <a:gd name="T0" fmla="*/ 31 w 31"/>
                <a:gd name="T1" fmla="*/ 40 h 40"/>
                <a:gd name="T2" fmla="*/ 31 w 31"/>
                <a:gd name="T3" fmla="*/ 17 h 40"/>
                <a:gd name="T4" fmla="*/ 17 w 31"/>
                <a:gd name="T5" fmla="*/ 0 h 40"/>
                <a:gd name="T6" fmla="*/ 7 w 31"/>
                <a:gd name="T7" fmla="*/ 4 h 40"/>
                <a:gd name="T8" fmla="*/ 7 w 31"/>
                <a:gd name="T9" fmla="*/ 1 h 40"/>
                <a:gd name="T10" fmla="*/ 0 w 31"/>
                <a:gd name="T11" fmla="*/ 1 h 40"/>
                <a:gd name="T12" fmla="*/ 0 w 31"/>
                <a:gd name="T13" fmla="*/ 40 h 40"/>
                <a:gd name="T14" fmla="*/ 7 w 31"/>
                <a:gd name="T15" fmla="*/ 40 h 40"/>
                <a:gd name="T16" fmla="*/ 7 w 31"/>
                <a:gd name="T17" fmla="*/ 17 h 40"/>
                <a:gd name="T18" fmla="*/ 15 w 31"/>
                <a:gd name="T19" fmla="*/ 7 h 40"/>
                <a:gd name="T20" fmla="*/ 23 w 31"/>
                <a:gd name="T21" fmla="*/ 18 h 40"/>
                <a:gd name="T22" fmla="*/ 23 w 31"/>
                <a:gd name="T23" fmla="*/ 40 h 40"/>
                <a:gd name="T24" fmla="*/ 31 w 31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0">
                  <a:moveTo>
                    <a:pt x="31" y="40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6"/>
                    <a:pt x="26" y="0"/>
                    <a:pt x="17" y="0"/>
                  </a:cubicBezTo>
                  <a:cubicBezTo>
                    <a:pt x="13" y="0"/>
                    <a:pt x="9" y="2"/>
                    <a:pt x="7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1"/>
                    <a:pt x="10" y="7"/>
                    <a:pt x="15" y="7"/>
                  </a:cubicBezTo>
                  <a:cubicBezTo>
                    <a:pt x="20" y="7"/>
                    <a:pt x="23" y="10"/>
                    <a:pt x="23" y="18"/>
                  </a:cubicBezTo>
                  <a:cubicBezTo>
                    <a:pt x="23" y="40"/>
                    <a:pt x="23" y="40"/>
                    <a:pt x="23" y="40"/>
                  </a:cubicBezTo>
                  <a:lnTo>
                    <a:pt x="31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6" name="Freeform 300"/>
            <p:cNvSpPr>
              <a:spLocks noEditPoints="1"/>
            </p:cNvSpPr>
            <p:nvPr/>
          </p:nvSpPr>
          <p:spPr bwMode="auto">
            <a:xfrm>
              <a:off x="3109" y="386"/>
              <a:ext cx="75" cy="131"/>
            </a:xfrm>
            <a:custGeom>
              <a:avLst/>
              <a:gdLst>
                <a:gd name="T0" fmla="*/ 29 w 32"/>
                <a:gd name="T1" fmla="*/ 5 h 55"/>
                <a:gd name="T2" fmla="*/ 24 w 32"/>
                <a:gd name="T3" fmla="*/ 0 h 55"/>
                <a:gd name="T4" fmla="*/ 19 w 32"/>
                <a:gd name="T5" fmla="*/ 5 h 55"/>
                <a:gd name="T6" fmla="*/ 24 w 32"/>
                <a:gd name="T7" fmla="*/ 10 h 55"/>
                <a:gd name="T8" fmla="*/ 29 w 32"/>
                <a:gd name="T9" fmla="*/ 5 h 55"/>
                <a:gd name="T10" fmla="*/ 15 w 32"/>
                <a:gd name="T11" fmla="*/ 5 h 55"/>
                <a:gd name="T12" fmla="*/ 10 w 32"/>
                <a:gd name="T13" fmla="*/ 0 h 55"/>
                <a:gd name="T14" fmla="*/ 5 w 32"/>
                <a:gd name="T15" fmla="*/ 5 h 55"/>
                <a:gd name="T16" fmla="*/ 10 w 32"/>
                <a:gd name="T17" fmla="*/ 10 h 55"/>
                <a:gd name="T18" fmla="*/ 15 w 32"/>
                <a:gd name="T19" fmla="*/ 5 h 55"/>
                <a:gd name="T20" fmla="*/ 32 w 32"/>
                <a:gd name="T21" fmla="*/ 54 h 55"/>
                <a:gd name="T22" fmla="*/ 32 w 32"/>
                <a:gd name="T23" fmla="*/ 27 h 55"/>
                <a:gd name="T24" fmla="*/ 17 w 32"/>
                <a:gd name="T25" fmla="*/ 14 h 55"/>
                <a:gd name="T26" fmla="*/ 4 w 32"/>
                <a:gd name="T27" fmla="*/ 17 h 55"/>
                <a:gd name="T28" fmla="*/ 7 w 32"/>
                <a:gd name="T29" fmla="*/ 23 h 55"/>
                <a:gd name="T30" fmla="*/ 17 w 32"/>
                <a:gd name="T31" fmla="*/ 21 h 55"/>
                <a:gd name="T32" fmla="*/ 25 w 32"/>
                <a:gd name="T33" fmla="*/ 27 h 55"/>
                <a:gd name="T34" fmla="*/ 25 w 32"/>
                <a:gd name="T35" fmla="*/ 30 h 55"/>
                <a:gd name="T36" fmla="*/ 16 w 32"/>
                <a:gd name="T37" fmla="*/ 29 h 55"/>
                <a:gd name="T38" fmla="*/ 0 w 32"/>
                <a:gd name="T39" fmla="*/ 41 h 55"/>
                <a:gd name="T40" fmla="*/ 14 w 32"/>
                <a:gd name="T41" fmla="*/ 55 h 55"/>
                <a:gd name="T42" fmla="*/ 25 w 32"/>
                <a:gd name="T43" fmla="*/ 50 h 55"/>
                <a:gd name="T44" fmla="*/ 25 w 32"/>
                <a:gd name="T45" fmla="*/ 54 h 55"/>
                <a:gd name="T46" fmla="*/ 32 w 32"/>
                <a:gd name="T47" fmla="*/ 54 h 55"/>
                <a:gd name="T48" fmla="*/ 25 w 32"/>
                <a:gd name="T49" fmla="*/ 43 h 55"/>
                <a:gd name="T50" fmla="*/ 15 w 32"/>
                <a:gd name="T51" fmla="*/ 48 h 55"/>
                <a:gd name="T52" fmla="*/ 8 w 32"/>
                <a:gd name="T53" fmla="*/ 41 h 55"/>
                <a:gd name="T54" fmla="*/ 16 w 32"/>
                <a:gd name="T55" fmla="*/ 35 h 55"/>
                <a:gd name="T56" fmla="*/ 25 w 32"/>
                <a:gd name="T57" fmla="*/ 37 h 55"/>
                <a:gd name="T58" fmla="*/ 25 w 32"/>
                <a:gd name="T59" fmla="*/ 4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55">
                  <a:moveTo>
                    <a:pt x="29" y="5"/>
                  </a:moveTo>
                  <a:cubicBezTo>
                    <a:pt x="29" y="2"/>
                    <a:pt x="27" y="0"/>
                    <a:pt x="24" y="0"/>
                  </a:cubicBezTo>
                  <a:cubicBezTo>
                    <a:pt x="22" y="0"/>
                    <a:pt x="19" y="2"/>
                    <a:pt x="19" y="5"/>
                  </a:cubicBezTo>
                  <a:cubicBezTo>
                    <a:pt x="19" y="8"/>
                    <a:pt x="22" y="10"/>
                    <a:pt x="24" y="10"/>
                  </a:cubicBezTo>
                  <a:cubicBezTo>
                    <a:pt x="27" y="10"/>
                    <a:pt x="29" y="8"/>
                    <a:pt x="29" y="5"/>
                  </a:cubicBezTo>
                  <a:close/>
                  <a:moveTo>
                    <a:pt x="15" y="5"/>
                  </a:moveTo>
                  <a:cubicBezTo>
                    <a:pt x="15" y="2"/>
                    <a:pt x="13" y="0"/>
                    <a:pt x="10" y="0"/>
                  </a:cubicBezTo>
                  <a:cubicBezTo>
                    <a:pt x="7" y="0"/>
                    <a:pt x="5" y="2"/>
                    <a:pt x="5" y="5"/>
                  </a:cubicBezTo>
                  <a:cubicBezTo>
                    <a:pt x="5" y="8"/>
                    <a:pt x="7" y="10"/>
                    <a:pt x="10" y="10"/>
                  </a:cubicBezTo>
                  <a:cubicBezTo>
                    <a:pt x="13" y="10"/>
                    <a:pt x="15" y="8"/>
                    <a:pt x="15" y="5"/>
                  </a:cubicBezTo>
                  <a:close/>
                  <a:moveTo>
                    <a:pt x="32" y="54"/>
                  </a:moveTo>
                  <a:cubicBezTo>
                    <a:pt x="32" y="27"/>
                    <a:pt x="32" y="27"/>
                    <a:pt x="32" y="27"/>
                  </a:cubicBezTo>
                  <a:cubicBezTo>
                    <a:pt x="32" y="18"/>
                    <a:pt x="26" y="14"/>
                    <a:pt x="17" y="14"/>
                  </a:cubicBezTo>
                  <a:cubicBezTo>
                    <a:pt x="12" y="14"/>
                    <a:pt x="8" y="15"/>
                    <a:pt x="4" y="17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0" y="21"/>
                    <a:pt x="13" y="21"/>
                    <a:pt x="17" y="21"/>
                  </a:cubicBezTo>
                  <a:cubicBezTo>
                    <a:pt x="22" y="21"/>
                    <a:pt x="25" y="23"/>
                    <a:pt x="25" y="27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2" y="29"/>
                    <a:pt x="19" y="29"/>
                    <a:pt x="16" y="29"/>
                  </a:cubicBezTo>
                  <a:cubicBezTo>
                    <a:pt x="7" y="29"/>
                    <a:pt x="0" y="33"/>
                    <a:pt x="0" y="41"/>
                  </a:cubicBezTo>
                  <a:cubicBezTo>
                    <a:pt x="0" y="51"/>
                    <a:pt x="7" y="55"/>
                    <a:pt x="14" y="55"/>
                  </a:cubicBezTo>
                  <a:cubicBezTo>
                    <a:pt x="18" y="55"/>
                    <a:pt x="22" y="53"/>
                    <a:pt x="25" y="50"/>
                  </a:cubicBezTo>
                  <a:cubicBezTo>
                    <a:pt x="25" y="54"/>
                    <a:pt x="25" y="54"/>
                    <a:pt x="25" y="54"/>
                  </a:cubicBezTo>
                  <a:lnTo>
                    <a:pt x="32" y="54"/>
                  </a:lnTo>
                  <a:close/>
                  <a:moveTo>
                    <a:pt x="25" y="43"/>
                  </a:moveTo>
                  <a:cubicBezTo>
                    <a:pt x="23" y="45"/>
                    <a:pt x="19" y="48"/>
                    <a:pt x="15" y="48"/>
                  </a:cubicBezTo>
                  <a:cubicBezTo>
                    <a:pt x="10" y="48"/>
                    <a:pt x="8" y="45"/>
                    <a:pt x="8" y="41"/>
                  </a:cubicBezTo>
                  <a:cubicBezTo>
                    <a:pt x="8" y="38"/>
                    <a:pt x="11" y="35"/>
                    <a:pt x="16" y="35"/>
                  </a:cubicBezTo>
                  <a:cubicBezTo>
                    <a:pt x="20" y="35"/>
                    <a:pt x="22" y="36"/>
                    <a:pt x="25" y="37"/>
                  </a:cubicBezTo>
                  <a:lnTo>
                    <a:pt x="25" y="43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7" name="Freeform 301"/>
            <p:cNvSpPr>
              <a:spLocks/>
            </p:cNvSpPr>
            <p:nvPr/>
          </p:nvSpPr>
          <p:spPr bwMode="auto">
            <a:xfrm>
              <a:off x="3210" y="419"/>
              <a:ext cx="55" cy="95"/>
            </a:xfrm>
            <a:custGeom>
              <a:avLst/>
              <a:gdLst>
                <a:gd name="T0" fmla="*/ 23 w 23"/>
                <a:gd name="T1" fmla="*/ 1 h 40"/>
                <a:gd name="T2" fmla="*/ 17 w 23"/>
                <a:gd name="T3" fmla="*/ 0 h 40"/>
                <a:gd name="T4" fmla="*/ 8 w 23"/>
                <a:gd name="T5" fmla="*/ 4 h 40"/>
                <a:gd name="T6" fmla="*/ 8 w 23"/>
                <a:gd name="T7" fmla="*/ 1 h 40"/>
                <a:gd name="T8" fmla="*/ 0 w 23"/>
                <a:gd name="T9" fmla="*/ 1 h 40"/>
                <a:gd name="T10" fmla="*/ 0 w 23"/>
                <a:gd name="T11" fmla="*/ 40 h 40"/>
                <a:gd name="T12" fmla="*/ 8 w 23"/>
                <a:gd name="T13" fmla="*/ 40 h 40"/>
                <a:gd name="T14" fmla="*/ 8 w 23"/>
                <a:gd name="T15" fmla="*/ 17 h 40"/>
                <a:gd name="T16" fmla="*/ 15 w 23"/>
                <a:gd name="T17" fmla="*/ 7 h 40"/>
                <a:gd name="T18" fmla="*/ 21 w 23"/>
                <a:gd name="T19" fmla="*/ 9 h 40"/>
                <a:gd name="T20" fmla="*/ 23 w 23"/>
                <a:gd name="T21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40">
                  <a:moveTo>
                    <a:pt x="23" y="1"/>
                  </a:moveTo>
                  <a:cubicBezTo>
                    <a:pt x="22" y="0"/>
                    <a:pt x="20" y="0"/>
                    <a:pt x="17" y="0"/>
                  </a:cubicBezTo>
                  <a:cubicBezTo>
                    <a:pt x="13" y="0"/>
                    <a:pt x="10" y="2"/>
                    <a:pt x="8" y="4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1" y="7"/>
                    <a:pt x="15" y="7"/>
                  </a:cubicBezTo>
                  <a:cubicBezTo>
                    <a:pt x="18" y="7"/>
                    <a:pt x="20" y="8"/>
                    <a:pt x="21" y="9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8" name="Freeform 302"/>
            <p:cNvSpPr>
              <a:spLocks/>
            </p:cNvSpPr>
            <p:nvPr/>
          </p:nvSpPr>
          <p:spPr bwMode="auto">
            <a:xfrm>
              <a:off x="3279" y="421"/>
              <a:ext cx="71" cy="93"/>
            </a:xfrm>
            <a:custGeom>
              <a:avLst/>
              <a:gdLst>
                <a:gd name="T0" fmla="*/ 30 w 30"/>
                <a:gd name="T1" fmla="*/ 39 h 39"/>
                <a:gd name="T2" fmla="*/ 30 w 30"/>
                <a:gd name="T3" fmla="*/ 32 h 39"/>
                <a:gd name="T4" fmla="*/ 16 w 30"/>
                <a:gd name="T5" fmla="*/ 32 h 39"/>
                <a:gd name="T6" fmla="*/ 9 w 30"/>
                <a:gd name="T7" fmla="*/ 32 h 39"/>
                <a:gd name="T8" fmla="*/ 13 w 30"/>
                <a:gd name="T9" fmla="*/ 26 h 39"/>
                <a:gd name="T10" fmla="*/ 30 w 30"/>
                <a:gd name="T11" fmla="*/ 6 h 39"/>
                <a:gd name="T12" fmla="*/ 30 w 30"/>
                <a:gd name="T13" fmla="*/ 0 h 39"/>
                <a:gd name="T14" fmla="*/ 1 w 30"/>
                <a:gd name="T15" fmla="*/ 0 h 39"/>
                <a:gd name="T16" fmla="*/ 1 w 30"/>
                <a:gd name="T17" fmla="*/ 6 h 39"/>
                <a:gd name="T18" fmla="*/ 14 w 30"/>
                <a:gd name="T19" fmla="*/ 6 h 39"/>
                <a:gd name="T20" fmla="*/ 21 w 30"/>
                <a:gd name="T21" fmla="*/ 6 h 39"/>
                <a:gd name="T22" fmla="*/ 16 w 30"/>
                <a:gd name="T23" fmla="*/ 12 h 39"/>
                <a:gd name="T24" fmla="*/ 0 w 30"/>
                <a:gd name="T25" fmla="*/ 33 h 39"/>
                <a:gd name="T26" fmla="*/ 0 w 30"/>
                <a:gd name="T27" fmla="*/ 39 h 39"/>
                <a:gd name="T28" fmla="*/ 30 w 30"/>
                <a:gd name="T2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39">
                  <a:moveTo>
                    <a:pt x="30" y="39"/>
                  </a:moveTo>
                  <a:cubicBezTo>
                    <a:pt x="30" y="32"/>
                    <a:pt x="30" y="32"/>
                    <a:pt x="30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2"/>
                    <a:pt x="10" y="32"/>
                    <a:pt x="9" y="32"/>
                  </a:cubicBezTo>
                  <a:cubicBezTo>
                    <a:pt x="10" y="31"/>
                    <a:pt x="12" y="28"/>
                    <a:pt x="13" y="2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6" y="6"/>
                    <a:pt x="20" y="6"/>
                    <a:pt x="21" y="6"/>
                  </a:cubicBezTo>
                  <a:cubicBezTo>
                    <a:pt x="20" y="8"/>
                    <a:pt x="18" y="10"/>
                    <a:pt x="16" y="1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30" y="3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9" name="Freeform 303"/>
            <p:cNvSpPr>
              <a:spLocks/>
            </p:cNvSpPr>
            <p:nvPr/>
          </p:nvSpPr>
          <p:spPr bwMode="auto">
            <a:xfrm>
              <a:off x="3367" y="383"/>
              <a:ext cx="54" cy="134"/>
            </a:xfrm>
            <a:custGeom>
              <a:avLst/>
              <a:gdLst>
                <a:gd name="T0" fmla="*/ 23 w 23"/>
                <a:gd name="T1" fmla="*/ 47 h 56"/>
                <a:gd name="T2" fmla="*/ 17 w 23"/>
                <a:gd name="T3" fmla="*/ 49 h 56"/>
                <a:gd name="T4" fmla="*/ 13 w 23"/>
                <a:gd name="T5" fmla="*/ 44 h 56"/>
                <a:gd name="T6" fmla="*/ 13 w 23"/>
                <a:gd name="T7" fmla="*/ 23 h 56"/>
                <a:gd name="T8" fmla="*/ 23 w 23"/>
                <a:gd name="T9" fmla="*/ 23 h 56"/>
                <a:gd name="T10" fmla="*/ 23 w 23"/>
                <a:gd name="T11" fmla="*/ 16 h 56"/>
                <a:gd name="T12" fmla="*/ 13 w 23"/>
                <a:gd name="T13" fmla="*/ 16 h 56"/>
                <a:gd name="T14" fmla="*/ 13 w 23"/>
                <a:gd name="T15" fmla="*/ 0 h 56"/>
                <a:gd name="T16" fmla="*/ 6 w 23"/>
                <a:gd name="T17" fmla="*/ 4 h 56"/>
                <a:gd name="T18" fmla="*/ 6 w 23"/>
                <a:gd name="T19" fmla="*/ 16 h 56"/>
                <a:gd name="T20" fmla="*/ 0 w 23"/>
                <a:gd name="T21" fmla="*/ 16 h 56"/>
                <a:gd name="T22" fmla="*/ 0 w 23"/>
                <a:gd name="T23" fmla="*/ 23 h 56"/>
                <a:gd name="T24" fmla="*/ 6 w 23"/>
                <a:gd name="T25" fmla="*/ 23 h 56"/>
                <a:gd name="T26" fmla="*/ 6 w 23"/>
                <a:gd name="T27" fmla="*/ 45 h 56"/>
                <a:gd name="T28" fmla="*/ 14 w 23"/>
                <a:gd name="T29" fmla="*/ 56 h 56"/>
                <a:gd name="T30" fmla="*/ 22 w 23"/>
                <a:gd name="T31" fmla="*/ 54 h 56"/>
                <a:gd name="T32" fmla="*/ 23 w 23"/>
                <a:gd name="T3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56">
                  <a:moveTo>
                    <a:pt x="23" y="47"/>
                  </a:moveTo>
                  <a:cubicBezTo>
                    <a:pt x="21" y="48"/>
                    <a:pt x="19" y="49"/>
                    <a:pt x="17" y="49"/>
                  </a:cubicBezTo>
                  <a:cubicBezTo>
                    <a:pt x="14" y="49"/>
                    <a:pt x="13" y="48"/>
                    <a:pt x="13" y="44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52"/>
                    <a:pt x="9" y="56"/>
                    <a:pt x="14" y="56"/>
                  </a:cubicBezTo>
                  <a:cubicBezTo>
                    <a:pt x="17" y="56"/>
                    <a:pt x="20" y="55"/>
                    <a:pt x="22" y="54"/>
                  </a:cubicBezTo>
                  <a:lnTo>
                    <a:pt x="23" y="47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0" name="Freeform 304"/>
            <p:cNvSpPr>
              <a:spLocks/>
            </p:cNvSpPr>
            <p:nvPr/>
          </p:nvSpPr>
          <p:spPr bwMode="auto">
            <a:xfrm>
              <a:off x="3447" y="383"/>
              <a:ext cx="17" cy="131"/>
            </a:xfrm>
            <a:custGeom>
              <a:avLst/>
              <a:gdLst>
                <a:gd name="T0" fmla="*/ 17 w 17"/>
                <a:gd name="T1" fmla="*/ 131 h 131"/>
                <a:gd name="T2" fmla="*/ 17 w 17"/>
                <a:gd name="T3" fmla="*/ 0 h 131"/>
                <a:gd name="T4" fmla="*/ 0 w 17"/>
                <a:gd name="T5" fmla="*/ 10 h 131"/>
                <a:gd name="T6" fmla="*/ 0 w 17"/>
                <a:gd name="T7" fmla="*/ 131 h 131"/>
                <a:gd name="T8" fmla="*/ 17 w 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1">
                  <a:moveTo>
                    <a:pt x="17" y="131"/>
                  </a:moveTo>
                  <a:lnTo>
                    <a:pt x="17" y="0"/>
                  </a:lnTo>
                  <a:lnTo>
                    <a:pt x="0" y="10"/>
                  </a:lnTo>
                  <a:lnTo>
                    <a:pt x="0" y="131"/>
                  </a:lnTo>
                  <a:lnTo>
                    <a:pt x="17" y="131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1" name="Freeform 305"/>
            <p:cNvSpPr>
              <a:spLocks noEditPoints="1"/>
            </p:cNvSpPr>
            <p:nvPr/>
          </p:nvSpPr>
          <p:spPr bwMode="auto">
            <a:xfrm>
              <a:off x="3490" y="386"/>
              <a:ext cx="23" cy="128"/>
            </a:xfrm>
            <a:custGeom>
              <a:avLst/>
              <a:gdLst>
                <a:gd name="T0" fmla="*/ 10 w 10"/>
                <a:gd name="T1" fmla="*/ 5 h 54"/>
                <a:gd name="T2" fmla="*/ 5 w 10"/>
                <a:gd name="T3" fmla="*/ 0 h 54"/>
                <a:gd name="T4" fmla="*/ 0 w 10"/>
                <a:gd name="T5" fmla="*/ 5 h 54"/>
                <a:gd name="T6" fmla="*/ 5 w 10"/>
                <a:gd name="T7" fmla="*/ 10 h 54"/>
                <a:gd name="T8" fmla="*/ 10 w 10"/>
                <a:gd name="T9" fmla="*/ 5 h 54"/>
                <a:gd name="T10" fmla="*/ 9 w 10"/>
                <a:gd name="T11" fmla="*/ 54 h 54"/>
                <a:gd name="T12" fmla="*/ 9 w 10"/>
                <a:gd name="T13" fmla="*/ 15 h 54"/>
                <a:gd name="T14" fmla="*/ 1 w 10"/>
                <a:gd name="T15" fmla="*/ 15 h 54"/>
                <a:gd name="T16" fmla="*/ 1 w 10"/>
                <a:gd name="T17" fmla="*/ 54 h 54"/>
                <a:gd name="T18" fmla="*/ 9 w 10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4">
                  <a:moveTo>
                    <a:pt x="10" y="5"/>
                  </a:moveTo>
                  <a:cubicBezTo>
                    <a:pt x="10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10"/>
                    <a:pt x="5" y="10"/>
                  </a:cubicBezTo>
                  <a:cubicBezTo>
                    <a:pt x="8" y="10"/>
                    <a:pt x="10" y="7"/>
                    <a:pt x="10" y="5"/>
                  </a:cubicBezTo>
                  <a:close/>
                  <a:moveTo>
                    <a:pt x="9" y="5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9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2" name="Freeform 306"/>
            <p:cNvSpPr>
              <a:spLocks/>
            </p:cNvSpPr>
            <p:nvPr/>
          </p:nvSpPr>
          <p:spPr bwMode="auto">
            <a:xfrm>
              <a:off x="3535" y="419"/>
              <a:ext cx="73" cy="98"/>
            </a:xfrm>
            <a:custGeom>
              <a:avLst/>
              <a:gdLst>
                <a:gd name="T0" fmla="*/ 31 w 31"/>
                <a:gd name="T1" fmla="*/ 6 h 41"/>
                <a:gd name="T2" fmla="*/ 17 w 31"/>
                <a:gd name="T3" fmla="*/ 0 h 41"/>
                <a:gd name="T4" fmla="*/ 0 w 31"/>
                <a:gd name="T5" fmla="*/ 20 h 41"/>
                <a:gd name="T6" fmla="*/ 17 w 31"/>
                <a:gd name="T7" fmla="*/ 41 h 41"/>
                <a:gd name="T8" fmla="*/ 31 w 31"/>
                <a:gd name="T9" fmla="*/ 33 h 41"/>
                <a:gd name="T10" fmla="*/ 26 w 31"/>
                <a:gd name="T11" fmla="*/ 28 h 41"/>
                <a:gd name="T12" fmla="*/ 17 w 31"/>
                <a:gd name="T13" fmla="*/ 33 h 41"/>
                <a:gd name="T14" fmla="*/ 8 w 31"/>
                <a:gd name="T15" fmla="*/ 20 h 41"/>
                <a:gd name="T16" fmla="*/ 17 w 31"/>
                <a:gd name="T17" fmla="*/ 7 h 41"/>
                <a:gd name="T18" fmla="*/ 26 w 31"/>
                <a:gd name="T19" fmla="*/ 12 h 41"/>
                <a:gd name="T20" fmla="*/ 31 w 31"/>
                <a:gd name="T2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41">
                  <a:moveTo>
                    <a:pt x="31" y="6"/>
                  </a:moveTo>
                  <a:cubicBezTo>
                    <a:pt x="27" y="2"/>
                    <a:pt x="23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7" y="41"/>
                    <a:pt x="17" y="41"/>
                  </a:cubicBezTo>
                  <a:cubicBezTo>
                    <a:pt x="24" y="41"/>
                    <a:pt x="28" y="37"/>
                    <a:pt x="31" y="33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3" y="32"/>
                    <a:pt x="21" y="33"/>
                    <a:pt x="17" y="33"/>
                  </a:cubicBezTo>
                  <a:cubicBezTo>
                    <a:pt x="11" y="33"/>
                    <a:pt x="8" y="28"/>
                    <a:pt x="8" y="20"/>
                  </a:cubicBezTo>
                  <a:cubicBezTo>
                    <a:pt x="8" y="12"/>
                    <a:pt x="11" y="7"/>
                    <a:pt x="17" y="7"/>
                  </a:cubicBezTo>
                  <a:cubicBezTo>
                    <a:pt x="20" y="7"/>
                    <a:pt x="23" y="9"/>
                    <a:pt x="26" y="12"/>
                  </a:cubicBezTo>
                  <a:lnTo>
                    <a:pt x="31" y="6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3" name="Freeform 307"/>
            <p:cNvSpPr>
              <a:spLocks/>
            </p:cNvSpPr>
            <p:nvPr/>
          </p:nvSpPr>
          <p:spPr bwMode="auto">
            <a:xfrm>
              <a:off x="3632" y="383"/>
              <a:ext cx="73" cy="131"/>
            </a:xfrm>
            <a:custGeom>
              <a:avLst/>
              <a:gdLst>
                <a:gd name="T0" fmla="*/ 31 w 31"/>
                <a:gd name="T1" fmla="*/ 55 h 55"/>
                <a:gd name="T2" fmla="*/ 31 w 31"/>
                <a:gd name="T3" fmla="*/ 32 h 55"/>
                <a:gd name="T4" fmla="*/ 17 w 31"/>
                <a:gd name="T5" fmla="*/ 15 h 55"/>
                <a:gd name="T6" fmla="*/ 7 w 31"/>
                <a:gd name="T7" fmla="*/ 19 h 55"/>
                <a:gd name="T8" fmla="*/ 7 w 31"/>
                <a:gd name="T9" fmla="*/ 0 h 55"/>
                <a:gd name="T10" fmla="*/ 0 w 31"/>
                <a:gd name="T11" fmla="*/ 4 h 55"/>
                <a:gd name="T12" fmla="*/ 0 w 31"/>
                <a:gd name="T13" fmla="*/ 55 h 55"/>
                <a:gd name="T14" fmla="*/ 7 w 31"/>
                <a:gd name="T15" fmla="*/ 55 h 55"/>
                <a:gd name="T16" fmla="*/ 7 w 31"/>
                <a:gd name="T17" fmla="*/ 32 h 55"/>
                <a:gd name="T18" fmla="*/ 15 w 31"/>
                <a:gd name="T19" fmla="*/ 22 h 55"/>
                <a:gd name="T20" fmla="*/ 23 w 31"/>
                <a:gd name="T21" fmla="*/ 33 h 55"/>
                <a:gd name="T22" fmla="*/ 23 w 31"/>
                <a:gd name="T23" fmla="*/ 55 h 55"/>
                <a:gd name="T24" fmla="*/ 31 w 31"/>
                <a:gd name="T2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5">
                  <a:moveTo>
                    <a:pt x="31" y="55"/>
                  </a:moveTo>
                  <a:cubicBezTo>
                    <a:pt x="31" y="32"/>
                    <a:pt x="31" y="32"/>
                    <a:pt x="31" y="32"/>
                  </a:cubicBezTo>
                  <a:cubicBezTo>
                    <a:pt x="31" y="21"/>
                    <a:pt x="26" y="15"/>
                    <a:pt x="17" y="15"/>
                  </a:cubicBezTo>
                  <a:cubicBezTo>
                    <a:pt x="13" y="15"/>
                    <a:pt x="9" y="17"/>
                    <a:pt x="7" y="19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26"/>
                    <a:pt x="10" y="22"/>
                    <a:pt x="15" y="22"/>
                  </a:cubicBezTo>
                  <a:cubicBezTo>
                    <a:pt x="20" y="22"/>
                    <a:pt x="23" y="25"/>
                    <a:pt x="23" y="33"/>
                  </a:cubicBezTo>
                  <a:cubicBezTo>
                    <a:pt x="23" y="55"/>
                    <a:pt x="23" y="55"/>
                    <a:pt x="23" y="55"/>
                  </a:cubicBezTo>
                  <a:lnTo>
                    <a:pt x="31" y="55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4" name="Freeform 308"/>
            <p:cNvSpPr>
              <a:spLocks noEditPoints="1"/>
            </p:cNvSpPr>
            <p:nvPr/>
          </p:nvSpPr>
          <p:spPr bwMode="auto">
            <a:xfrm>
              <a:off x="3726" y="419"/>
              <a:ext cx="81" cy="98"/>
            </a:xfrm>
            <a:custGeom>
              <a:avLst/>
              <a:gdLst>
                <a:gd name="T0" fmla="*/ 34 w 34"/>
                <a:gd name="T1" fmla="*/ 19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1 w 34"/>
                <a:gd name="T9" fmla="*/ 35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3 h 41"/>
                <a:gd name="T16" fmla="*/ 34 w 34"/>
                <a:gd name="T17" fmla="*/ 23 h 41"/>
                <a:gd name="T18" fmla="*/ 34 w 34"/>
                <a:gd name="T19" fmla="*/ 19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19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1" y="35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2"/>
                    <a:pt x="21" y="34"/>
                    <a:pt x="18" y="34"/>
                  </a:cubicBezTo>
                  <a:cubicBezTo>
                    <a:pt x="13" y="34"/>
                    <a:pt x="9" y="30"/>
                    <a:pt x="8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2"/>
                    <a:pt x="34" y="21"/>
                    <a:pt x="34" y="19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0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5" name="Freeform 309"/>
            <p:cNvSpPr>
              <a:spLocks/>
            </p:cNvSpPr>
            <p:nvPr/>
          </p:nvSpPr>
          <p:spPr bwMode="auto">
            <a:xfrm>
              <a:off x="2025" y="390"/>
              <a:ext cx="385" cy="571"/>
            </a:xfrm>
            <a:custGeom>
              <a:avLst/>
              <a:gdLst>
                <a:gd name="T0" fmla="*/ 149 w 385"/>
                <a:gd name="T1" fmla="*/ 0 h 571"/>
                <a:gd name="T2" fmla="*/ 0 w 385"/>
                <a:gd name="T3" fmla="*/ 0 h 571"/>
                <a:gd name="T4" fmla="*/ 0 w 385"/>
                <a:gd name="T5" fmla="*/ 571 h 571"/>
                <a:gd name="T6" fmla="*/ 385 w 385"/>
                <a:gd name="T7" fmla="*/ 571 h 571"/>
                <a:gd name="T8" fmla="*/ 385 w 385"/>
                <a:gd name="T9" fmla="*/ 437 h 571"/>
                <a:gd name="T10" fmla="*/ 149 w 385"/>
                <a:gd name="T11" fmla="*/ 437 h 571"/>
                <a:gd name="T12" fmla="*/ 149 w 385"/>
                <a:gd name="T13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5" h="571">
                  <a:moveTo>
                    <a:pt x="149" y="0"/>
                  </a:moveTo>
                  <a:lnTo>
                    <a:pt x="0" y="0"/>
                  </a:lnTo>
                  <a:lnTo>
                    <a:pt x="0" y="571"/>
                  </a:lnTo>
                  <a:lnTo>
                    <a:pt x="385" y="571"/>
                  </a:lnTo>
                  <a:lnTo>
                    <a:pt x="385" y="437"/>
                  </a:lnTo>
                  <a:lnTo>
                    <a:pt x="149" y="4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6" name="Freeform 310"/>
            <p:cNvSpPr>
              <a:spLocks/>
            </p:cNvSpPr>
            <p:nvPr/>
          </p:nvSpPr>
          <p:spPr bwMode="auto">
            <a:xfrm>
              <a:off x="1123" y="390"/>
              <a:ext cx="871" cy="571"/>
            </a:xfrm>
            <a:custGeom>
              <a:avLst/>
              <a:gdLst>
                <a:gd name="T0" fmla="*/ 0 w 871"/>
                <a:gd name="T1" fmla="*/ 351 h 571"/>
                <a:gd name="T2" fmla="*/ 78 w 871"/>
                <a:gd name="T3" fmla="*/ 84 h 571"/>
                <a:gd name="T4" fmla="*/ 177 w 871"/>
                <a:gd name="T5" fmla="*/ 440 h 571"/>
                <a:gd name="T6" fmla="*/ 182 w 871"/>
                <a:gd name="T7" fmla="*/ 440 h 571"/>
                <a:gd name="T8" fmla="*/ 305 w 871"/>
                <a:gd name="T9" fmla="*/ 0 h 571"/>
                <a:gd name="T10" fmla="*/ 310 w 871"/>
                <a:gd name="T11" fmla="*/ 0 h 571"/>
                <a:gd name="T12" fmla="*/ 464 w 871"/>
                <a:gd name="T13" fmla="*/ 0 h 571"/>
                <a:gd name="T14" fmla="*/ 584 w 871"/>
                <a:gd name="T15" fmla="*/ 440 h 571"/>
                <a:gd name="T16" fmla="*/ 589 w 871"/>
                <a:gd name="T17" fmla="*/ 440 h 571"/>
                <a:gd name="T18" fmla="*/ 715 w 871"/>
                <a:gd name="T19" fmla="*/ 0 h 571"/>
                <a:gd name="T20" fmla="*/ 871 w 871"/>
                <a:gd name="T21" fmla="*/ 0 h 571"/>
                <a:gd name="T22" fmla="*/ 705 w 871"/>
                <a:gd name="T23" fmla="*/ 571 h 571"/>
                <a:gd name="T24" fmla="*/ 469 w 871"/>
                <a:gd name="T25" fmla="*/ 571 h 571"/>
                <a:gd name="T26" fmla="*/ 386 w 871"/>
                <a:gd name="T27" fmla="*/ 268 h 571"/>
                <a:gd name="T28" fmla="*/ 298 w 871"/>
                <a:gd name="T29" fmla="*/ 571 h 571"/>
                <a:gd name="T30" fmla="*/ 61 w 871"/>
                <a:gd name="T31" fmla="*/ 571 h 571"/>
                <a:gd name="T32" fmla="*/ 0 w 871"/>
                <a:gd name="T33" fmla="*/ 35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1" h="571">
                  <a:moveTo>
                    <a:pt x="0" y="351"/>
                  </a:moveTo>
                  <a:lnTo>
                    <a:pt x="78" y="84"/>
                  </a:lnTo>
                  <a:lnTo>
                    <a:pt x="177" y="440"/>
                  </a:lnTo>
                  <a:lnTo>
                    <a:pt x="182" y="440"/>
                  </a:lnTo>
                  <a:lnTo>
                    <a:pt x="305" y="0"/>
                  </a:lnTo>
                  <a:lnTo>
                    <a:pt x="310" y="0"/>
                  </a:lnTo>
                  <a:lnTo>
                    <a:pt x="464" y="0"/>
                  </a:lnTo>
                  <a:lnTo>
                    <a:pt x="584" y="440"/>
                  </a:lnTo>
                  <a:lnTo>
                    <a:pt x="589" y="440"/>
                  </a:lnTo>
                  <a:lnTo>
                    <a:pt x="715" y="0"/>
                  </a:lnTo>
                  <a:lnTo>
                    <a:pt x="871" y="0"/>
                  </a:lnTo>
                  <a:lnTo>
                    <a:pt x="705" y="571"/>
                  </a:lnTo>
                  <a:lnTo>
                    <a:pt x="469" y="571"/>
                  </a:lnTo>
                  <a:lnTo>
                    <a:pt x="386" y="268"/>
                  </a:lnTo>
                  <a:lnTo>
                    <a:pt x="298" y="571"/>
                  </a:lnTo>
                  <a:lnTo>
                    <a:pt x="61" y="571"/>
                  </a:lnTo>
                  <a:lnTo>
                    <a:pt x="0" y="351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7" name="Freeform 311"/>
            <p:cNvSpPr>
              <a:spLocks/>
            </p:cNvSpPr>
            <p:nvPr/>
          </p:nvSpPr>
          <p:spPr bwMode="auto">
            <a:xfrm>
              <a:off x="136" y="390"/>
              <a:ext cx="1041" cy="571"/>
            </a:xfrm>
            <a:custGeom>
              <a:avLst/>
              <a:gdLst>
                <a:gd name="T0" fmla="*/ 876 w 1041"/>
                <a:gd name="T1" fmla="*/ 571 h 571"/>
                <a:gd name="T2" fmla="*/ 641 w 1041"/>
                <a:gd name="T3" fmla="*/ 571 h 571"/>
                <a:gd name="T4" fmla="*/ 492 w 1041"/>
                <a:gd name="T5" fmla="*/ 46 h 571"/>
                <a:gd name="T6" fmla="*/ 327 w 1041"/>
                <a:gd name="T7" fmla="*/ 280 h 571"/>
                <a:gd name="T8" fmla="*/ 542 w 1041"/>
                <a:gd name="T9" fmla="*/ 571 h 571"/>
                <a:gd name="T10" fmla="*/ 355 w 1041"/>
                <a:gd name="T11" fmla="*/ 571 h 571"/>
                <a:gd name="T12" fmla="*/ 196 w 1041"/>
                <a:gd name="T13" fmla="*/ 347 h 571"/>
                <a:gd name="T14" fmla="*/ 151 w 1041"/>
                <a:gd name="T15" fmla="*/ 347 h 571"/>
                <a:gd name="T16" fmla="*/ 151 w 1041"/>
                <a:gd name="T17" fmla="*/ 571 h 571"/>
                <a:gd name="T18" fmla="*/ 0 w 1041"/>
                <a:gd name="T19" fmla="*/ 571 h 571"/>
                <a:gd name="T20" fmla="*/ 0 w 1041"/>
                <a:gd name="T21" fmla="*/ 0 h 571"/>
                <a:gd name="T22" fmla="*/ 151 w 1041"/>
                <a:gd name="T23" fmla="*/ 0 h 571"/>
                <a:gd name="T24" fmla="*/ 151 w 1041"/>
                <a:gd name="T25" fmla="*/ 215 h 571"/>
                <a:gd name="T26" fmla="*/ 196 w 1041"/>
                <a:gd name="T27" fmla="*/ 215 h 571"/>
                <a:gd name="T28" fmla="*/ 343 w 1041"/>
                <a:gd name="T29" fmla="*/ 0 h 571"/>
                <a:gd name="T30" fmla="*/ 480 w 1041"/>
                <a:gd name="T31" fmla="*/ 0 h 571"/>
                <a:gd name="T32" fmla="*/ 525 w 1041"/>
                <a:gd name="T33" fmla="*/ 0 h 571"/>
                <a:gd name="T34" fmla="*/ 634 w 1041"/>
                <a:gd name="T35" fmla="*/ 0 h 571"/>
                <a:gd name="T36" fmla="*/ 755 w 1041"/>
                <a:gd name="T37" fmla="*/ 440 h 571"/>
                <a:gd name="T38" fmla="*/ 760 w 1041"/>
                <a:gd name="T39" fmla="*/ 440 h 571"/>
                <a:gd name="T40" fmla="*/ 885 w 1041"/>
                <a:gd name="T41" fmla="*/ 0 h 571"/>
                <a:gd name="T42" fmla="*/ 1041 w 1041"/>
                <a:gd name="T43" fmla="*/ 0 h 571"/>
                <a:gd name="T44" fmla="*/ 876 w 1041"/>
                <a:gd name="T45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1" h="571">
                  <a:moveTo>
                    <a:pt x="876" y="571"/>
                  </a:moveTo>
                  <a:lnTo>
                    <a:pt x="641" y="571"/>
                  </a:lnTo>
                  <a:lnTo>
                    <a:pt x="492" y="46"/>
                  </a:lnTo>
                  <a:lnTo>
                    <a:pt x="327" y="280"/>
                  </a:lnTo>
                  <a:lnTo>
                    <a:pt x="542" y="571"/>
                  </a:lnTo>
                  <a:lnTo>
                    <a:pt x="355" y="571"/>
                  </a:lnTo>
                  <a:lnTo>
                    <a:pt x="196" y="347"/>
                  </a:lnTo>
                  <a:lnTo>
                    <a:pt x="151" y="347"/>
                  </a:lnTo>
                  <a:lnTo>
                    <a:pt x="151" y="571"/>
                  </a:lnTo>
                  <a:lnTo>
                    <a:pt x="0" y="571"/>
                  </a:lnTo>
                  <a:lnTo>
                    <a:pt x="0" y="0"/>
                  </a:lnTo>
                  <a:lnTo>
                    <a:pt x="151" y="0"/>
                  </a:lnTo>
                  <a:lnTo>
                    <a:pt x="151" y="215"/>
                  </a:lnTo>
                  <a:lnTo>
                    <a:pt x="196" y="215"/>
                  </a:lnTo>
                  <a:lnTo>
                    <a:pt x="343" y="0"/>
                  </a:lnTo>
                  <a:lnTo>
                    <a:pt x="480" y="0"/>
                  </a:lnTo>
                  <a:lnTo>
                    <a:pt x="525" y="0"/>
                  </a:lnTo>
                  <a:lnTo>
                    <a:pt x="634" y="0"/>
                  </a:lnTo>
                  <a:lnTo>
                    <a:pt x="755" y="440"/>
                  </a:lnTo>
                  <a:lnTo>
                    <a:pt x="760" y="440"/>
                  </a:lnTo>
                  <a:lnTo>
                    <a:pt x="885" y="0"/>
                  </a:lnTo>
                  <a:lnTo>
                    <a:pt x="1041" y="0"/>
                  </a:lnTo>
                  <a:lnTo>
                    <a:pt x="876" y="571"/>
                  </a:lnTo>
                  <a:close/>
                </a:path>
              </a:pathLst>
            </a:custGeom>
            <a:solidFill>
              <a:srgbClr val="55A5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</p:grpSp>
      <p:sp>
        <p:nvSpPr>
          <p:cNvPr id="9" name="Textfeld 8"/>
          <p:cNvSpPr txBox="1"/>
          <p:nvPr/>
        </p:nvSpPr>
        <p:spPr>
          <a:xfrm>
            <a:off x="5882804" y="4840002"/>
            <a:ext cx="3261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>
                <a:solidFill>
                  <a:prstClr val="white"/>
                </a:solidFill>
                <a:cs typeface="Arial" panose="020B0604020202020204" pitchFamily="34" charset="0"/>
              </a:rPr>
              <a:t> </a:t>
            </a:r>
          </a:p>
          <a:p>
            <a:pPr algn="r"/>
            <a:r>
              <a:rPr lang="de-DE" sz="800" dirty="0">
                <a:solidFill>
                  <a:prstClr val="white"/>
                </a:solidFill>
                <a:cs typeface="Arial" panose="020B0604020202020204" pitchFamily="34" charset="0"/>
              </a:rPr>
              <a:t>Dortmund, 12.02.2021</a:t>
            </a:r>
          </a:p>
        </p:txBody>
      </p:sp>
    </p:spTree>
    <p:extLst>
      <p:ext uri="{BB962C8B-B14F-4D97-AF65-F5344CB8AC3E}">
        <p14:creationId xmlns:p14="http://schemas.microsoft.com/office/powerpoint/2010/main" val="53593087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330316209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F0A3B239-FBDA-4753-B642-4F6C124C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18685583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44CDC00-ACDE-4AE6-AC9B-4F17FE3D0D2A}"/>
              </a:ext>
            </a:extLst>
          </p:cNvPr>
          <p:cNvSpPr txBox="1"/>
          <p:nvPr/>
        </p:nvSpPr>
        <p:spPr>
          <a:xfrm>
            <a:off x="749220" y="1425602"/>
            <a:ext cx="795688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Hohe Anzahl an Applikationen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Auftreten von Fehlern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Keine klaren Vorgaben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 err="1"/>
              <a:t>Logging</a:t>
            </a:r>
            <a:r>
              <a:rPr lang="de-DE" sz="1600" dirty="0"/>
              <a:t> chaotisch und unstrukturiert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58E2264E-7531-4261-8EC1-6A96D67F1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6150224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Ziel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44CDC00-ACDE-4AE6-AC9B-4F17FE3D0D2A}"/>
              </a:ext>
            </a:extLst>
          </p:cNvPr>
          <p:cNvSpPr txBox="1"/>
          <p:nvPr/>
        </p:nvSpPr>
        <p:spPr>
          <a:xfrm>
            <a:off x="749220" y="1425602"/>
            <a:ext cx="79568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30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Evaluierung von Log-Management-Tools</a:t>
            </a:r>
          </a:p>
          <a:p>
            <a:pPr marL="285750" indent="-285750">
              <a:spcBef>
                <a:spcPts val="600"/>
              </a:spcBef>
              <a:spcAft>
                <a:spcPts val="30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Einrichten eines zentralisierten </a:t>
            </a:r>
            <a:r>
              <a:rPr lang="de-DE" sz="1600" dirty="0" err="1"/>
              <a:t>Loggng</a:t>
            </a:r>
            <a:r>
              <a:rPr lang="de-DE" sz="1600" dirty="0"/>
              <a:t>-Servers</a:t>
            </a:r>
          </a:p>
          <a:p>
            <a:pPr marL="285750" indent="-285750">
              <a:spcBef>
                <a:spcPts val="600"/>
              </a:spcBef>
              <a:spcAft>
                <a:spcPts val="30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Umsetzen der definierten Richtlinien 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6F797DC1-AF95-43E3-80DA-C75DE0E3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35852156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5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2520417983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F0A3B239-FBDA-4753-B642-4F6C124C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354505308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Anforderungen an die Log-Management-Tools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Selbstverwaltete Lösung (keine Cloud-Lösung)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Einsammeln von Logs aus unterschiedlichen Anwendungen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Speicherung von Logs ohne externe Datenbank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Anzeige und Analyse von Logs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Filtern und Durchsuchen von Logs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Installation auf Linux</a:t>
            </a:r>
          </a:p>
        </p:txBody>
      </p:sp>
    </p:spTree>
    <p:extLst>
      <p:ext uri="{BB962C8B-B14F-4D97-AF65-F5344CB8AC3E}">
        <p14:creationId xmlns:p14="http://schemas.microsoft.com/office/powerpoint/2010/main" val="29712529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 Stack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Besteht aus: Elasticsearch, Kibana, Logstash, Beat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Nutzung grundsätzlich kostenlos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Teilweise Open Source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Kostenpflichtiges Abonnement möglich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Selbstverwaltete- oder Cloud-Lösung</a:t>
            </a:r>
          </a:p>
        </p:txBody>
      </p:sp>
    </p:spTree>
    <p:extLst>
      <p:ext uri="{BB962C8B-B14F-4D97-AF65-F5344CB8AC3E}">
        <p14:creationId xmlns:p14="http://schemas.microsoft.com/office/powerpoint/2010/main" val="19922747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Graylog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Open Source Log-Management-Tool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Graylog Enterprise bis zu 5 GB/Tag Logs kostenlos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Abhängigkeiten von externer Software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Selbstverwaltete Lösung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5319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Sematext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55576" y="1425602"/>
            <a:ext cx="7956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Kostenpflichtiges Log-Management-Tool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Installation mit Docker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Selbstverwaltete- oder Cloud-Lösung</a:t>
            </a:r>
          </a:p>
        </p:txBody>
      </p:sp>
    </p:spTree>
    <p:extLst>
      <p:ext uri="{BB962C8B-B14F-4D97-AF65-F5344CB8AC3E}">
        <p14:creationId xmlns:p14="http://schemas.microsoft.com/office/powerpoint/2010/main" val="18094707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Fluentd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Besteht aus: Elasticsearch, Kibana, Logstash, Beat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2365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Vergleich</a:t>
            </a: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B618B7AD-3523-469D-9C95-4ADB0103ED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4069046"/>
              </p:ext>
            </p:extLst>
          </p:nvPr>
        </p:nvGraphicFramePr>
        <p:xfrm>
          <a:off x="1524000" y="1347614"/>
          <a:ext cx="6096000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09786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0D76806-759F-4DC0-ACDC-44A8AD213D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9E3EDCC5-2861-49DA-AF8A-587D7FC096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9A077A3-3346-40E9-B82B-FAE873582F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4062296E-E278-4764-BC7B-FA77F717CD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B1E91C5-C9AE-4085-9043-A7BE5FCE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BBAEB742-463B-4229-A658-5A7854F316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12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944758285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F0A3B239-FBDA-4753-B642-4F6C124C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288749440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Hat Server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Für produktive Systeme werden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Hat Server genutzt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Öffnen des Ports 9200 für Kibana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Öffnen des Ports 5601 für Elasticsearch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Keine Verbindung zum Internet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Manuelle Installation notwendig </a:t>
            </a:r>
          </a:p>
        </p:txBody>
      </p:sp>
    </p:spTree>
    <p:extLst>
      <p:ext uri="{BB962C8B-B14F-4D97-AF65-F5344CB8AC3E}">
        <p14:creationId xmlns:p14="http://schemas.microsoft.com/office/powerpoint/2010/main" val="22066330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Elasticsearch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Installation der Basic-Version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Manuelles Herunterladen der RPM-Pakete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Konfiguration von Elasticsearch: </a:t>
            </a:r>
          </a:p>
          <a:p>
            <a:pPr marL="628650" lvl="1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Eintragen der Host: 0.0.0.0 </a:t>
            </a:r>
          </a:p>
        </p:txBody>
      </p:sp>
    </p:spTree>
    <p:extLst>
      <p:ext uri="{BB962C8B-B14F-4D97-AF65-F5344CB8AC3E}">
        <p14:creationId xmlns:p14="http://schemas.microsoft.com/office/powerpoint/2010/main" val="10129633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Kibana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Installation wie Elasticsearch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Index Pattern</a:t>
            </a:r>
          </a:p>
          <a:p>
            <a:pPr marL="628650" lvl="1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Beispiel: </a:t>
            </a:r>
            <a:r>
              <a:rPr lang="de-DE" sz="1600" i="1" dirty="0">
                <a:latin typeface="Arial" panose="020B0604020202020204" pitchFamily="34" charset="0"/>
                <a:cs typeface="Arial" panose="020B0604020202020204" pitchFamily="34" charset="0"/>
              </a:rPr>
              <a:t>prod-*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Konfiguration von Kibana: </a:t>
            </a:r>
          </a:p>
          <a:p>
            <a:pPr marL="628650" lvl="1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Eintragen der Host: 0.0.0.0 </a:t>
            </a:r>
          </a:p>
        </p:txBody>
      </p:sp>
    </p:spTree>
    <p:extLst>
      <p:ext uri="{BB962C8B-B14F-4D97-AF65-F5344CB8AC3E}">
        <p14:creationId xmlns:p14="http://schemas.microsoft.com/office/powerpoint/2010/main" val="35278291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Logstash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Komponente nicht notwendig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Durch die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-Richtlinien sind Logdateien strukturiert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Filebeat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wird genutzt</a:t>
            </a:r>
          </a:p>
        </p:txBody>
      </p:sp>
    </p:spTree>
    <p:extLst>
      <p:ext uri="{BB962C8B-B14F-4D97-AF65-F5344CB8AC3E}">
        <p14:creationId xmlns:p14="http://schemas.microsoft.com/office/powerpoint/2010/main" val="33651796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Filebeat</a:t>
            </a:r>
            <a:endParaRPr lang="de-DE" sz="1600" dirty="0">
              <a:solidFill>
                <a:srgbClr val="55A51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3819180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Installation auf Windows-Server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Konfiguration Elasticsearch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Konfiguration Kibana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Konfiguration Inputs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31C7C3F-320D-464A-83EC-2B3A0D58C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008" y="1408067"/>
            <a:ext cx="3486150" cy="39052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3686A4B-8CD4-49F4-817A-D270FF934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008" y="2180154"/>
            <a:ext cx="3219450" cy="37147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23B9EB67-43F6-4C2A-9CC0-451E74605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008" y="2873550"/>
            <a:ext cx="30099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805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Struktur der Logs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AD6ED14-8BD6-436F-BF1A-96D447451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972209"/>
            <a:ext cx="3312368" cy="386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999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19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894335425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F0A3B239-FBDA-4753-B642-4F6C124C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348426303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Vierteljahreserklärung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Generierung der Erklärung zur Vierteljahresabrechnung 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Client-Server-Anwendung 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Kommunikation über Schnittstellen: „/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bsnr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“ und „/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Aufruf der C#-Methode </a:t>
            </a:r>
            <a:r>
              <a:rPr lang="de-DE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GetBSNRsAsync</a:t>
            </a:r>
            <a:endParaRPr lang="de-DE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3681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Konfiguration von </a:t>
            </a:r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NLog</a:t>
            </a:r>
            <a:endParaRPr lang="de-DE" sz="1600" dirty="0">
              <a:solidFill>
                <a:srgbClr val="55A51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FA9B63E-D2FB-4D7D-9B5F-A17BFD89A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635646"/>
            <a:ext cx="49815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899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Aufbau der Logs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3DBEA4B-0FBB-4C2F-B050-6B33E8FF0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507" y="1563638"/>
            <a:ext cx="53149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21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Implementierung</a:t>
            </a:r>
          </a:p>
        </p:txBody>
      </p:sp>
      <p:graphicFrame>
        <p:nvGraphicFramePr>
          <p:cNvPr id="15" name="Diagramm 14">
            <a:extLst>
              <a:ext uri="{FF2B5EF4-FFF2-40B4-BE49-F238E27FC236}">
                <a16:creationId xmlns:a16="http://schemas.microsoft.com/office/drawing/2014/main" id="{34F92F66-0DDF-4C32-901F-ABF381363A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409301"/>
              </p:ext>
            </p:extLst>
          </p:nvPr>
        </p:nvGraphicFramePr>
        <p:xfrm>
          <a:off x="1366956" y="1199733"/>
          <a:ext cx="4861228" cy="3231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5254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3716B09-971D-40F3-A5AF-A3AB2FF63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97462731-09A8-44F4-A891-8C17A1D5D7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BEE69E6A-9707-4578-94AC-9AE6C348DF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B5F35077-D103-4BEA-A778-F589EEBDD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AC64C5B0-CD5D-4633-A3E4-9A608AFE10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934436A0-2123-4222-8BD0-7C4674411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 uiExpand="1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Aufruf von externen Schnittstellen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Arztregister-Schnittstelle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Nutzung des Arztregister-Clients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Log-Level: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Debug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D386588-F364-42C0-9E88-1DE12AC15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076" y="3003798"/>
            <a:ext cx="5486434" cy="111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994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Auftreten von Fehlern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Loggen von Fehlern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Log-Level: Error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8EA819B-F3C3-42AF-BD19-4A31E52E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475" y="2355726"/>
            <a:ext cx="4968552" cy="240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645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Kommunikation zwischen Server und Client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F4DD2B-B138-402C-B195-0FC87ABBAA5A}"/>
              </a:ext>
            </a:extLst>
          </p:cNvPr>
          <p:cNvSpPr txBox="1"/>
          <p:nvPr/>
        </p:nvSpPr>
        <p:spPr>
          <a:xfrm>
            <a:off x="749220" y="1425602"/>
            <a:ext cx="7956884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Anfragen der Clients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Schnittstelle </a:t>
            </a:r>
            <a:r>
              <a:rPr lang="de-DE" sz="1600" i="1" dirty="0">
                <a:latin typeface="Arial" panose="020B0604020202020204" pitchFamily="34" charset="0"/>
                <a:cs typeface="Arial" panose="020B0604020202020204" pitchFamily="34" charset="0"/>
              </a:rPr>
              <a:t>„/</a:t>
            </a:r>
            <a:r>
              <a:rPr lang="de-DE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de-DE" sz="1600" i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bsnrs</a:t>
            </a:r>
            <a:r>
              <a:rPr lang="de-DE" sz="1600" i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Log-Level: Info</a:t>
            </a:r>
          </a:p>
          <a:p>
            <a:pPr marL="285750" indent="-285750">
              <a:spcBef>
                <a:spcPts val="600"/>
              </a:spcBef>
              <a:spcAft>
                <a:spcPts val="24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21A6CC5-2D86-4392-902B-C73559D39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25" y="2446803"/>
            <a:ext cx="53911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263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27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307555203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F0A3B239-FBDA-4753-B642-4F6C124C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301350813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Fehleranalyse im Ausgangszustand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61B8D17-5A2A-4C8A-8865-C66A4D236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136" y="1210796"/>
            <a:ext cx="2847719" cy="369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5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875AC9-8557-43B2-85A1-BA9990DA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1E1003-04F6-4F4A-A15D-9FE52F2AB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Kevin Bollich   Umsetzung von Logging-Richtlinien und Einrichtung eines zentralisierten Logging-Servers für das CFT Portale der Kassenärztlichen Vereinigung Westfalen-Lippe - 12.02.2021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A77005-5053-42C8-B837-6F09DD2016B3}"/>
              </a:ext>
            </a:extLst>
          </p:cNvPr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805E1-CE4D-4EF7-8E11-5D4CCFF8B5FF}"/>
              </a:ext>
            </a:extLst>
          </p:cNvPr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2D5D798-61F7-420F-8C2B-75D32D695011}"/>
              </a:ext>
            </a:extLst>
          </p:cNvPr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Einrichtung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75C858-CF3B-45D6-9CCF-15A91A377CAF}"/>
              </a:ext>
            </a:extLst>
          </p:cNvPr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307BD-57D8-4D1D-809A-229702991AC3}"/>
              </a:ext>
            </a:extLst>
          </p:cNvPr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Ergebnisse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8F87D0-E0ED-4162-ABAA-3FD23003E4E2}"/>
              </a:ext>
            </a:extLst>
          </p:cNvPr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E6B74C8-A982-4C6F-A34E-383B283ED719}"/>
              </a:ext>
            </a:extLst>
          </p:cNvPr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Verbesserter Fehleranalyseprozess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004826F-7839-4BC6-B886-F7F8E0ECF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94" y="1779662"/>
            <a:ext cx="54387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241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30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76976102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F0A3B239-FBDA-4753-B642-4F6C124C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Umsetzung von </a:t>
            </a:r>
            <a:r>
              <a:rPr lang="de-DE" dirty="0" err="1"/>
              <a:t>Logging</a:t>
            </a:r>
            <a:r>
              <a:rPr lang="de-DE" dirty="0"/>
              <a:t>-Richtlinien und Einrichtung eines zentralisierten </a:t>
            </a:r>
            <a:r>
              <a:rPr lang="de-DE" dirty="0" err="1"/>
              <a:t>Logging</a:t>
            </a:r>
            <a:r>
              <a:rPr lang="de-DE" dirty="0"/>
              <a:t>-Servers für das CFT Portale der Kassenärztlichen Vereinigung Westfalen-Lippe - 12.02.2021</a:t>
            </a:r>
          </a:p>
        </p:txBody>
      </p:sp>
    </p:spTree>
    <p:extLst>
      <p:ext uri="{BB962C8B-B14F-4D97-AF65-F5344CB8AC3E}">
        <p14:creationId xmlns:p14="http://schemas.microsoft.com/office/powerpoint/2010/main" val="116398541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</p:spPr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31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3757256231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779565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</p:spPr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32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11" name="Diagramm 10"/>
          <p:cNvGraphicFramePr/>
          <p:nvPr>
            <p:extLst>
              <p:ext uri="{D42A27DB-BD31-4B8C-83A1-F6EECF244321}">
                <p14:modId xmlns:p14="http://schemas.microsoft.com/office/powerpoint/2010/main" val="775922968"/>
              </p:ext>
            </p:extLst>
          </p:nvPr>
        </p:nvGraphicFramePr>
        <p:xfrm>
          <a:off x="867641" y="1100582"/>
          <a:ext cx="7084681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745966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</p:spPr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Ausblick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11" name="Grafik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03798"/>
            <a:ext cx="868448" cy="1834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3262072496"/>
              </p:ext>
            </p:extLst>
          </p:nvPr>
        </p:nvGraphicFramePr>
        <p:xfrm>
          <a:off x="2124000" y="1069339"/>
          <a:ext cx="6048400" cy="3009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4372854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</p:spPr>
        <p:txBody>
          <a:bodyPr/>
          <a:lstStyle/>
          <a:p>
            <a:r>
              <a:rPr lang="de-DE"/>
              <a:t>Bernd Hecker / 1.2.1 Le    Aufgaben und Organisation Ärztlicher/Psychotherapeutischer Körperschaften und Verbände - 28.06.2019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32645-6AAF-4E23-B5F0-807530D98911}" type="slidenum">
              <a:rPr lang="de-DE" smtClean="0"/>
              <a:t>34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7" y="-985"/>
            <a:ext cx="9144793" cy="514547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3563888" y="2211710"/>
            <a:ext cx="43924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altLang="de-DE" sz="3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Vielen Dank für Ihre Aufmerksamkeit!</a:t>
            </a:r>
          </a:p>
        </p:txBody>
      </p:sp>
      <p:cxnSp>
        <p:nvCxnSpPr>
          <p:cNvPr id="8" name="Gerader Verbinder 7"/>
          <p:cNvCxnSpPr/>
          <p:nvPr/>
        </p:nvCxnSpPr>
        <p:spPr>
          <a:xfrm>
            <a:off x="3563888" y="3507854"/>
            <a:ext cx="4536504" cy="0"/>
          </a:xfrm>
          <a:prstGeom prst="line">
            <a:avLst/>
          </a:prstGeom>
          <a:ln w="19050">
            <a:solidFill>
              <a:srgbClr val="808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87" y="220740"/>
            <a:ext cx="2320373" cy="38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7108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KVWL Master">
      <a:dk1>
        <a:sysClr val="windowText" lastClr="000000"/>
      </a:dk1>
      <a:lt1>
        <a:sysClr val="window" lastClr="FFFFFF"/>
      </a:lt1>
      <a:dk2>
        <a:srgbClr val="55A51C"/>
      </a:dk2>
      <a:lt2>
        <a:srgbClr val="8E969D"/>
      </a:lt2>
      <a:accent1>
        <a:srgbClr val="55A51C"/>
      </a:accent1>
      <a:accent2>
        <a:srgbClr val="EE7203"/>
      </a:accent2>
      <a:accent3>
        <a:srgbClr val="AE0F0A"/>
      </a:accent3>
      <a:accent4>
        <a:srgbClr val="FFCC00"/>
      </a:accent4>
      <a:accent5>
        <a:srgbClr val="F7A600"/>
      </a:accent5>
      <a:accent6>
        <a:srgbClr val="646464"/>
      </a:accent6>
      <a:hlink>
        <a:srgbClr val="55A51C"/>
      </a:hlink>
      <a:folHlink>
        <a:srgbClr val="55A51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ispielpräsentation KVWL 2019 Juli" id="{3C029A01-DE2A-4198-9C44-65885A4E0F36}" vid="{5E5F5986-4F38-47D6-B226-CB9CA8A0B3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Multimedia-Präsentationen" ma:contentTypeID="0x010100C8A38E25A8BE400989B3B16A961BED0E0D00EE0815C4842CF9448BEFDC7DBAB6E956" ma:contentTypeVersion="4" ma:contentTypeDescription="Dokument für Info-Center Multimedia-Präsentationen" ma:contentTypeScope="" ma:versionID="4bac25bbf1052e7b977810895bded124">
  <xsd:schema xmlns:xsd="http://www.w3.org/2001/XMLSchema" xmlns:xs="http://www.w3.org/2001/XMLSchema" xmlns:p="http://schemas.microsoft.com/office/2006/metadata/properties" xmlns:ns2="0b31d0e6-12a2-4b25-8c3c-abdbcff8a8f8" targetNamespace="http://schemas.microsoft.com/office/2006/metadata/properties" ma:root="true" ma:fieldsID="2eff551a9ad7f773083da433b7d150be" ns2:_="">
    <xsd:import namespace="0b31d0e6-12a2-4b25-8c3c-abdbcff8a8f8"/>
    <xsd:element name="properties">
      <xsd:complexType>
        <xsd:sequence>
          <xsd:element name="documentManagement">
            <xsd:complexType>
              <xsd:all>
                <xsd:element ref="ns2:WLCOM_NewsPublishingDate"/>
                <xsd:element ref="ns2:ce677b4b8d99425298bf1c34fe305cf7" minOccurs="0"/>
                <xsd:element ref="ns2:TaxCatchAll" minOccurs="0"/>
                <xsd:element ref="ns2:TaxCatchAllLabel" minOccurs="0"/>
                <xsd:element ref="ns2:KategorieMM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31d0e6-12a2-4b25-8c3c-abdbcff8a8f8" elementFormDefault="qualified">
    <xsd:import namespace="http://schemas.microsoft.com/office/2006/documentManagement/types"/>
    <xsd:import namespace="http://schemas.microsoft.com/office/infopath/2007/PartnerControls"/>
    <xsd:element name="WLCOM_NewsPublishingDate" ma:index="8" ma:displayName="Veröffentlichungsdatum" ma:default="[today]" ma:format="DateTime" ma:internalName="WLCOM_NewsPublishingDate" ma:readOnly="false">
      <xsd:simpleType>
        <xsd:restriction base="dms:DateTime"/>
      </xsd:simpleType>
    </xsd:element>
    <xsd:element name="ce677b4b8d99425298bf1c34fe305cf7" ma:index="9" nillable="true" ma:taxonomy="true" ma:internalName="ce677b4b8d99425298bf1c34fe305cf7" ma:taxonomyFieldName="KvwlTaxArchiv" ma:displayName="Archiv" ma:fieldId="{ce677b4b-8d99-4252-98bf-1c34fe305cf7}" ma:sspId="917d9c89-4e6c-4c69-b152-7c5e630ba8a9" ma:termSetId="7be56004-6ec3-47b3-a694-9657fbbaa81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59b27a16-bfa4-4673-8619-44febf56b01f}" ma:internalName="TaxCatchAll" ma:showField="CatchAllData" ma:web="0b31d0e6-12a2-4b25-8c3c-abdbcff8a8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1" nillable="true" ma:displayName="Taxonomy Catch All Column1" ma:hidden="true" ma:list="{59b27a16-bfa4-4673-8619-44febf56b01f}" ma:internalName="TaxCatchAllLabel" ma:readOnly="true" ma:showField="CatchAllDataLabel" ma:web="0b31d0e6-12a2-4b25-8c3c-abdbcff8a8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ategorieMMP" ma:index="13" nillable="true" ma:displayName="KategorieMMP" ma:format="Dropdown" ma:internalName="KategorieMMP">
      <xsd:simpleType>
        <xsd:restriction base="dms:Choice">
          <xsd:enumeration value="Style Guide"/>
          <xsd:enumeration value="Masterpräsentation"/>
          <xsd:enumeration value="Titelfolie"/>
          <xsd:enumeration value="Agenda"/>
          <xsd:enumeration value="Folie"/>
          <xsd:enumeration value="Folienkatalog"/>
          <xsd:enumeration value="Kartenmaterial"/>
          <xsd:enumeration value="Trennfolie"/>
          <xsd:enumeration value="Abschlussfolie"/>
          <xsd:enumeration value="Bilder"/>
          <xsd:enumeration value="Grafiken und Piktogramme"/>
          <xsd:enumeration value="Praxisstart"/>
          <xsd:enumeration value="Beispielpräsentation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e677b4b8d99425298bf1c34fe305cf7 xmlns="0b31d0e6-12a2-4b25-8c3c-abdbcff8a8f8">
      <Terms xmlns="http://schemas.microsoft.com/office/infopath/2007/PartnerControls"/>
    </ce677b4b8d99425298bf1c34fe305cf7>
    <WLCOM_NewsPublishingDate xmlns="0b31d0e6-12a2-4b25-8c3c-abdbcff8a8f8">2017-10-25T06:10:00+00:00</WLCOM_NewsPublishingDate>
    <TaxCatchAll xmlns="0b31d0e6-12a2-4b25-8c3c-abdbcff8a8f8"/>
    <KategorieMMP xmlns="0b31d0e6-12a2-4b25-8c3c-abdbcff8a8f8">Beispielpräsentation</KategorieMMP>
  </documentManagement>
</p:properties>
</file>

<file path=customXml/itemProps1.xml><?xml version="1.0" encoding="utf-8"?>
<ds:datastoreItem xmlns:ds="http://schemas.openxmlformats.org/officeDocument/2006/customXml" ds:itemID="{81980D1A-6385-487D-BDE8-7DE792450A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310AD7-4114-448D-9D0B-6F617E9BD9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31d0e6-12a2-4b25-8c3c-abdbcff8a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27EDD4-E584-4629-874F-7C5934A5D2A6}">
  <ds:schemaRefs>
    <ds:schemaRef ds:uri="http://purl.org/dc/elements/1.1/"/>
    <ds:schemaRef ds:uri="http://schemas.microsoft.com/office/2006/metadata/properties"/>
    <ds:schemaRef ds:uri="0b31d0e6-12a2-4b25-8c3c-abdbcff8a8f8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Projektarbeit-KevinBollich</Template>
  <TotalTime>0</TotalTime>
  <Words>1738</Words>
  <Application>Microsoft Office PowerPoint</Application>
  <PresentationFormat>Bildschirmpräsentation (16:9)</PresentationFormat>
  <Paragraphs>442</Paragraphs>
  <Slides>34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38" baseType="lpstr">
      <vt:lpstr>Arial</vt:lpstr>
      <vt:lpstr>Calibri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KVWL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Bollich, Kevin</dc:creator>
  <cp:lastModifiedBy>Kevin Bollich</cp:lastModifiedBy>
  <cp:revision>149</cp:revision>
  <dcterms:created xsi:type="dcterms:W3CDTF">2020-08-31T05:30:04Z</dcterms:created>
  <dcterms:modified xsi:type="dcterms:W3CDTF">2021-02-07T17:25:26Z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0x010100C8A38E25A8BE400989B3B16A961BED0E0D00EE0815C4842CF9448BEFDC7DBAB6E956</vt:lpwstr>
  </property>
  <property fmtid="{D5CDD505-2E9C-101B-9397-08002B2CF9AE}" pid="3" name="KvwlTaxArchiv">
    <vt:lpwstr/>
  </property>
</Properties>
</file>